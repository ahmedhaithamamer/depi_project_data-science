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318" r:id="rId10"/>
    <p:sldId id="264" r:id="rId11"/>
    <p:sldId id="265" r:id="rId12"/>
    <p:sldId id="319" r:id="rId13"/>
    <p:sldId id="267" r:id="rId14"/>
    <p:sldId id="266" r:id="rId15"/>
    <p:sldId id="268" r:id="rId16"/>
    <p:sldId id="293" r:id="rId17"/>
    <p:sldId id="269" r:id="rId18"/>
    <p:sldId id="270" r:id="rId19"/>
    <p:sldId id="271" r:id="rId20"/>
    <p:sldId id="272" r:id="rId21"/>
    <p:sldId id="274" r:id="rId22"/>
    <p:sldId id="276" r:id="rId23"/>
    <p:sldId id="277" r:id="rId24"/>
    <p:sldId id="279" r:id="rId25"/>
    <p:sldId id="273" r:id="rId26"/>
    <p:sldId id="280" r:id="rId27"/>
    <p:sldId id="281" r:id="rId28"/>
    <p:sldId id="282" r:id="rId29"/>
    <p:sldId id="283" r:id="rId30"/>
    <p:sldId id="284" r:id="rId31"/>
    <p:sldId id="285" r:id="rId32"/>
    <p:sldId id="286" r:id="rId33"/>
    <p:sldId id="287" r:id="rId34"/>
    <p:sldId id="289" r:id="rId35"/>
    <p:sldId id="290" r:id="rId36"/>
    <p:sldId id="291" r:id="rId37"/>
    <p:sldId id="292" r:id="rId38"/>
    <p:sldId id="288" r:id="rId39"/>
    <p:sldId id="294" r:id="rId40"/>
    <p:sldId id="295" r:id="rId41"/>
    <p:sldId id="301" r:id="rId42"/>
    <p:sldId id="303" r:id="rId43"/>
    <p:sldId id="296" r:id="rId44"/>
    <p:sldId id="304" r:id="rId45"/>
    <p:sldId id="300" r:id="rId46"/>
    <p:sldId id="297" r:id="rId47"/>
    <p:sldId id="298" r:id="rId48"/>
    <p:sldId id="299" r:id="rId49"/>
    <p:sldId id="302"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839D9C-A59A-3537-C547-9299DA27A550}" v="181" dt="2025-12-13T11:32:02.501"/>
    <p1510:client id="{68B3587A-2E94-5B41-6368-3D5FD838DDD3}" v="3" dt="2025-12-13T12:37:09.817"/>
    <p1510:client id="{BF0CBCD6-DF0E-4F1B-4B8F-1389DD1BC407}" v="40" dt="2025-12-13T10:42:01.372"/>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B9A1E7-CB73-4D0B-9D0D-EE9085CBF3AD}" type="datetimeFigureOut">
              <a:rPr lang="en-US" smtClean="0"/>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B48F2-80E2-4C37-9D79-9820F68E1745}" type="slidenum">
              <a:rPr lang="en-US" smtClean="0"/>
              <a:t>‹#›</a:t>
            </a:fld>
            <a:endParaRPr lang="en-US"/>
          </a:p>
        </p:txBody>
      </p:sp>
    </p:spTree>
    <p:extLst>
      <p:ext uri="{BB962C8B-B14F-4D97-AF65-F5344CB8AC3E}">
        <p14:creationId xmlns:p14="http://schemas.microsoft.com/office/powerpoint/2010/main" val="197015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D4B48F2-80E2-4C37-9D79-9820F68E1745}" type="slidenum">
              <a:rPr lang="en-US" smtClean="0"/>
              <a:t>8</a:t>
            </a:fld>
            <a:endParaRPr lang="en-US"/>
          </a:p>
        </p:txBody>
      </p:sp>
    </p:spTree>
    <p:extLst>
      <p:ext uri="{BB962C8B-B14F-4D97-AF65-F5344CB8AC3E}">
        <p14:creationId xmlns:p14="http://schemas.microsoft.com/office/powerpoint/2010/main" val="321209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D4B48F2-80E2-4C37-9D79-9820F68E1745}" type="slidenum">
              <a:rPr lang="en-US" smtClean="0"/>
              <a:t>33</a:t>
            </a:fld>
            <a:endParaRPr lang="en-US"/>
          </a:p>
        </p:txBody>
      </p:sp>
    </p:spTree>
    <p:extLst>
      <p:ext uri="{BB962C8B-B14F-4D97-AF65-F5344CB8AC3E}">
        <p14:creationId xmlns:p14="http://schemas.microsoft.com/office/powerpoint/2010/main" val="385044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7101-4784-5432-C70C-AE1BC6CCE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78629-9A0C-A092-21C6-26E91BCA7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8D5711-0E3E-D84C-4401-C9A681BE5E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BE8377-D462-053B-2B3C-E5866FBE5144}"/>
              </a:ext>
            </a:extLst>
          </p:cNvPr>
          <p:cNvSpPr>
            <a:spLocks noGrp="1"/>
          </p:cNvSpPr>
          <p:nvPr>
            <p:ph type="sldNum" sz="quarter" idx="5"/>
          </p:nvPr>
        </p:nvSpPr>
        <p:spPr/>
        <p:txBody>
          <a:bodyPr/>
          <a:lstStyle/>
          <a:p>
            <a:fld id="{FD4B48F2-80E2-4C37-9D79-9820F68E1745}" type="slidenum">
              <a:rPr lang="en-US" smtClean="0"/>
              <a:t>34</a:t>
            </a:fld>
            <a:endParaRPr lang="en-US"/>
          </a:p>
        </p:txBody>
      </p:sp>
    </p:spTree>
    <p:extLst>
      <p:ext uri="{BB962C8B-B14F-4D97-AF65-F5344CB8AC3E}">
        <p14:creationId xmlns:p14="http://schemas.microsoft.com/office/powerpoint/2010/main" val="447533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2C23-F20E-1057-A52D-4B55394D7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EDB29-CF09-0F0F-9B11-5A5CE0EF86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B1553-B809-9F79-8D0A-E6B3181EA9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CBD52E-05C2-89F8-E30B-FAE9F284B321}"/>
              </a:ext>
            </a:extLst>
          </p:cNvPr>
          <p:cNvSpPr>
            <a:spLocks noGrp="1"/>
          </p:cNvSpPr>
          <p:nvPr>
            <p:ph type="sldNum" sz="quarter" idx="5"/>
          </p:nvPr>
        </p:nvSpPr>
        <p:spPr/>
        <p:txBody>
          <a:bodyPr/>
          <a:lstStyle/>
          <a:p>
            <a:fld id="{FD4B48F2-80E2-4C37-9D79-9820F68E1745}" type="slidenum">
              <a:rPr lang="en-US" smtClean="0"/>
              <a:t>35</a:t>
            </a:fld>
            <a:endParaRPr lang="en-US"/>
          </a:p>
        </p:txBody>
      </p:sp>
    </p:spTree>
    <p:extLst>
      <p:ext uri="{BB962C8B-B14F-4D97-AF65-F5344CB8AC3E}">
        <p14:creationId xmlns:p14="http://schemas.microsoft.com/office/powerpoint/2010/main" val="2886348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7E9DF-CCB7-D032-D329-385591D4E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83EAE-852B-4B65-8538-7C457B32B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FEDC0-5FAF-BF73-953E-2E9B54CA11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1684E9-B743-83D8-3628-29A93F0AF965}"/>
              </a:ext>
            </a:extLst>
          </p:cNvPr>
          <p:cNvSpPr>
            <a:spLocks noGrp="1"/>
          </p:cNvSpPr>
          <p:nvPr>
            <p:ph type="sldNum" sz="quarter" idx="5"/>
          </p:nvPr>
        </p:nvSpPr>
        <p:spPr/>
        <p:txBody>
          <a:bodyPr/>
          <a:lstStyle/>
          <a:p>
            <a:fld id="{FD4B48F2-80E2-4C37-9D79-9820F68E1745}" type="slidenum">
              <a:rPr lang="en-US" smtClean="0"/>
              <a:t>36</a:t>
            </a:fld>
            <a:endParaRPr lang="en-US"/>
          </a:p>
        </p:txBody>
      </p:sp>
    </p:spTree>
    <p:extLst>
      <p:ext uri="{BB962C8B-B14F-4D97-AF65-F5344CB8AC3E}">
        <p14:creationId xmlns:p14="http://schemas.microsoft.com/office/powerpoint/2010/main" val="2599170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2B0E-8018-C239-260D-5CFC3CAD6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AF4AD-961D-4080-08E0-1F61C2147A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825F7-F7BC-221B-7E0E-6107A77C24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1D1481-EBCC-2AFB-7861-C188A526731E}"/>
              </a:ext>
            </a:extLst>
          </p:cNvPr>
          <p:cNvSpPr>
            <a:spLocks noGrp="1"/>
          </p:cNvSpPr>
          <p:nvPr>
            <p:ph type="sldNum" sz="quarter" idx="5"/>
          </p:nvPr>
        </p:nvSpPr>
        <p:spPr/>
        <p:txBody>
          <a:bodyPr/>
          <a:lstStyle/>
          <a:p>
            <a:fld id="{FD4B48F2-80E2-4C37-9D79-9820F68E1745}" type="slidenum">
              <a:rPr lang="en-US" smtClean="0"/>
              <a:t>37</a:t>
            </a:fld>
            <a:endParaRPr lang="en-US"/>
          </a:p>
        </p:txBody>
      </p:sp>
    </p:spTree>
    <p:extLst>
      <p:ext uri="{BB962C8B-B14F-4D97-AF65-F5344CB8AC3E}">
        <p14:creationId xmlns:p14="http://schemas.microsoft.com/office/powerpoint/2010/main" val="1329133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10724-1349-F9DC-6786-1097B01D1A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82E8CE-8C02-9DD9-FEDA-77D34E889D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FA41DD-A71F-305B-2650-DA42D3293D01}"/>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5" name="Footer Placeholder 4">
            <a:extLst>
              <a:ext uri="{FF2B5EF4-FFF2-40B4-BE49-F238E27FC236}">
                <a16:creationId xmlns:a16="http://schemas.microsoft.com/office/drawing/2014/main" id="{E6725AEF-2031-2F72-E97E-1992517069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C88F91-DD96-5EA6-7305-06ECDCDAEB7D}"/>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1840219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55E70-F003-01C0-F4AD-9328941858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A3BAD8-4E03-EF7A-9BB3-CF66AF75C7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3968DC-C0CB-9551-CC11-2126B1C18ACB}"/>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5" name="Footer Placeholder 4">
            <a:extLst>
              <a:ext uri="{FF2B5EF4-FFF2-40B4-BE49-F238E27FC236}">
                <a16:creationId xmlns:a16="http://schemas.microsoft.com/office/drawing/2014/main" id="{3E0697E7-2E70-CC76-A6A5-B8B9AD96B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E9F81-2F06-5B18-67D2-B4629DA85FB8}"/>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1878866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A4EF1-AFC5-1770-10CC-7BDCD95903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27D962-0705-144D-2F2C-E97523E0DB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F7DE97-4DEF-1084-308D-E33C272818E5}"/>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5" name="Footer Placeholder 4">
            <a:extLst>
              <a:ext uri="{FF2B5EF4-FFF2-40B4-BE49-F238E27FC236}">
                <a16:creationId xmlns:a16="http://schemas.microsoft.com/office/drawing/2014/main" id="{9C1EB9A0-F2DE-22F7-E28B-4556227C04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FB973-6A17-03F3-6A69-938D2292F9C5}"/>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1083788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7D6EB-E930-1E07-161A-342BB054D5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297AF4-F9CA-0F99-1545-00FFAF616D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A5C8C0-84FD-07E3-84B7-670EB3DC08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56C2BF-2DFA-6096-6DDB-227E0AF28E05}"/>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6" name="Footer Placeholder 5">
            <a:extLst>
              <a:ext uri="{FF2B5EF4-FFF2-40B4-BE49-F238E27FC236}">
                <a16:creationId xmlns:a16="http://schemas.microsoft.com/office/drawing/2014/main" id="{1AC02C3B-2902-1EB9-FCBD-A428EA7745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23A9BB-3480-1783-F1C5-A51E543AF021}"/>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3886792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35052-CEAD-1C43-D56C-C72A4152C6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7855E8-EEF9-EA7F-2806-14F7956248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54B5C2-1305-49ED-B44E-E26E8CEC1E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1ED774-0538-9FCE-CD41-8F8E446862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E334F5-CC8E-844E-5A3C-F75E5709AF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9030E0-8FA7-EBCC-1772-FE442C9B8464}"/>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8" name="Footer Placeholder 7">
            <a:extLst>
              <a:ext uri="{FF2B5EF4-FFF2-40B4-BE49-F238E27FC236}">
                <a16:creationId xmlns:a16="http://schemas.microsoft.com/office/drawing/2014/main" id="{5206D421-ABCA-5152-B43C-1A2F044E68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DCF0FF-18B2-A55F-D319-15EE9C91C6B3}"/>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2735730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FEF1-C3A0-A38D-8B2A-20D0131FA7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C51E5F-84F3-0DE2-ADC8-3E5D51FCEA23}"/>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4" name="Footer Placeholder 3">
            <a:extLst>
              <a:ext uri="{FF2B5EF4-FFF2-40B4-BE49-F238E27FC236}">
                <a16:creationId xmlns:a16="http://schemas.microsoft.com/office/drawing/2014/main" id="{8FD0C02A-4C7D-5421-9784-7FEDBEA922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B7F4BA-98BF-53D6-CE1D-5443FFA9E3BC}"/>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2851843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85BF84-1307-DC8D-DCA6-9CACE5BAA4C4}"/>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3" name="Footer Placeholder 2">
            <a:extLst>
              <a:ext uri="{FF2B5EF4-FFF2-40B4-BE49-F238E27FC236}">
                <a16:creationId xmlns:a16="http://schemas.microsoft.com/office/drawing/2014/main" id="{C0E09EDA-CF3C-E1A4-54DD-B4D1B6DD38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8AF6CE-39A5-B89B-76C8-78DAA8941BCE}"/>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774400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01F47-7DCA-E1FF-5AAF-8B7E3598D5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77821E-0EF6-00B4-EE2C-F11BF51923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FB16DA-8B1B-98FF-04BB-D53A83126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3DDB9E-4536-9437-AFE3-D31A14BD1AE8}"/>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6" name="Footer Placeholder 5">
            <a:extLst>
              <a:ext uri="{FF2B5EF4-FFF2-40B4-BE49-F238E27FC236}">
                <a16:creationId xmlns:a16="http://schemas.microsoft.com/office/drawing/2014/main" id="{48DA9395-03F5-628A-5027-CBCB1FC288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A2B74-8E03-A5EB-EB07-117AD45AE80F}"/>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394010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578CA-B967-08C4-DC87-447A49248A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012167-1F19-EA07-EABC-905C5F26D2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A0A256-107E-B203-A372-66DAE529F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3893DA-ACF5-F668-DC64-3475B0CCADE2}"/>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6" name="Footer Placeholder 5">
            <a:extLst>
              <a:ext uri="{FF2B5EF4-FFF2-40B4-BE49-F238E27FC236}">
                <a16:creationId xmlns:a16="http://schemas.microsoft.com/office/drawing/2014/main" id="{AE2D3155-D9DD-C97A-3D64-A8AE70631B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CDF9CE-B276-CD9C-4549-99EFE4EB3BCA}"/>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389906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E59A-31E3-6D3A-22B0-1A2ADECEED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BDB76E-51E3-D077-F807-8B5E35228D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38905F-FE60-9DC8-6681-53C8EE6632C5}"/>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5" name="Footer Placeholder 4">
            <a:extLst>
              <a:ext uri="{FF2B5EF4-FFF2-40B4-BE49-F238E27FC236}">
                <a16:creationId xmlns:a16="http://schemas.microsoft.com/office/drawing/2014/main" id="{B088DD32-98D1-E7BE-9EF3-CB658BB1F9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D937EE-7384-717E-5754-18D928CAC414}"/>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531513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047841-BFBF-43A0-207A-AEF02806E7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243528-5F05-CE4C-678E-BC469C87BF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EA808B-945E-AB5D-9142-094ABE12DA77}"/>
              </a:ext>
            </a:extLst>
          </p:cNvPr>
          <p:cNvSpPr>
            <a:spLocks noGrp="1"/>
          </p:cNvSpPr>
          <p:nvPr>
            <p:ph type="dt" sz="half" idx="10"/>
          </p:nvPr>
        </p:nvSpPr>
        <p:spPr/>
        <p:txBody>
          <a:bodyPr/>
          <a:lstStyle/>
          <a:p>
            <a:fld id="{CD1B0E71-CC7F-4F5B-9466-D181D59613D2}" type="datetimeFigureOut">
              <a:rPr lang="en-US" smtClean="0"/>
              <a:t>12/14/2025</a:t>
            </a:fld>
            <a:endParaRPr lang="en-US"/>
          </a:p>
        </p:txBody>
      </p:sp>
      <p:sp>
        <p:nvSpPr>
          <p:cNvPr id="5" name="Footer Placeholder 4">
            <a:extLst>
              <a:ext uri="{FF2B5EF4-FFF2-40B4-BE49-F238E27FC236}">
                <a16:creationId xmlns:a16="http://schemas.microsoft.com/office/drawing/2014/main" id="{C5072053-D6B9-2249-BFE6-439289D804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7CE51-782D-F84C-C30B-C7F34CE46CAF}"/>
              </a:ext>
            </a:extLst>
          </p:cNvPr>
          <p:cNvSpPr>
            <a:spLocks noGrp="1"/>
          </p:cNvSpPr>
          <p:nvPr>
            <p:ph type="sldNum" sz="quarter" idx="12"/>
          </p:nvPr>
        </p:nvSpPr>
        <p:spPr/>
        <p:txBody>
          <a:bodyPr/>
          <a:lstStyle/>
          <a:p>
            <a:fld id="{51D361A1-D987-41C5-B6DE-EDBE9F4331E3}" type="slidenum">
              <a:rPr lang="en-US" smtClean="0"/>
              <a:t>‹#›</a:t>
            </a:fld>
            <a:endParaRPr lang="en-US"/>
          </a:p>
        </p:txBody>
      </p:sp>
    </p:spTree>
    <p:extLst>
      <p:ext uri="{BB962C8B-B14F-4D97-AF65-F5344CB8AC3E}">
        <p14:creationId xmlns:p14="http://schemas.microsoft.com/office/powerpoint/2010/main" val="3715991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717A98-3DDE-B88A-CA7E-16AB032173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904399-38D8-B514-EA12-A4C2E623BC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4106F0-92AE-20A4-3846-A223C2759E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1B0E71-CC7F-4F5B-9466-D181D59613D2}" type="datetimeFigureOut">
              <a:rPr lang="en-US" smtClean="0"/>
              <a:t>12/14/2025</a:t>
            </a:fld>
            <a:endParaRPr lang="en-US"/>
          </a:p>
        </p:txBody>
      </p:sp>
      <p:sp>
        <p:nvSpPr>
          <p:cNvPr id="5" name="Footer Placeholder 4">
            <a:extLst>
              <a:ext uri="{FF2B5EF4-FFF2-40B4-BE49-F238E27FC236}">
                <a16:creationId xmlns:a16="http://schemas.microsoft.com/office/drawing/2014/main" id="{D9F5558C-E17C-EB13-3E66-B2743BDFE1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8F28C2-4EC0-1FD1-1D7D-31F6BFAC30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D361A1-D987-41C5-B6DE-EDBE9F4331E3}" type="slidenum">
              <a:rPr lang="en-US" smtClean="0"/>
              <a:t>‹#›</a:t>
            </a:fld>
            <a:endParaRPr lang="en-US"/>
          </a:p>
        </p:txBody>
      </p:sp>
    </p:spTree>
    <p:extLst>
      <p:ext uri="{BB962C8B-B14F-4D97-AF65-F5344CB8AC3E}">
        <p14:creationId xmlns:p14="http://schemas.microsoft.com/office/powerpoint/2010/main" val="3173405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6422AD-1807-27CD-619A-5980D31A378B}"/>
              </a:ext>
            </a:extLst>
          </p:cNvPr>
          <p:cNvSpPr txBox="1"/>
          <p:nvPr/>
        </p:nvSpPr>
        <p:spPr>
          <a:xfrm>
            <a:off x="2757948" y="2767280"/>
            <a:ext cx="6676104" cy="1323439"/>
          </a:xfrm>
          <a:prstGeom prst="rect">
            <a:avLst/>
          </a:prstGeom>
          <a:noFill/>
        </p:spPr>
        <p:txBody>
          <a:bodyPr wrap="square" rtlCol="0">
            <a:spAutoFit/>
          </a:bodyPr>
          <a:lstStyle/>
          <a:p>
            <a:pPr algn="ctr"/>
            <a:r>
              <a:rPr lang="en-US" sz="4000">
                <a:latin typeface="Josefin Sans" pitchFamily="2" charset="0"/>
              </a:rPr>
              <a:t>Walmart Sales Forecasting and Optimization</a:t>
            </a:r>
          </a:p>
        </p:txBody>
      </p:sp>
    </p:spTree>
    <p:extLst>
      <p:ext uri="{BB962C8B-B14F-4D97-AF65-F5344CB8AC3E}">
        <p14:creationId xmlns:p14="http://schemas.microsoft.com/office/powerpoint/2010/main" val="2351607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326AB-CA03-8BA9-8F91-BDD77054A7B7}"/>
              </a:ext>
            </a:extLst>
          </p:cNvPr>
          <p:cNvSpPr>
            <a:spLocks noGrp="1"/>
          </p:cNvSpPr>
          <p:nvPr>
            <p:ph type="title"/>
          </p:nvPr>
        </p:nvSpPr>
        <p:spPr/>
        <p:txBody>
          <a:bodyPr/>
          <a:lstStyle/>
          <a:p>
            <a:r>
              <a:rPr lang="en-US">
                <a:latin typeface="Josefin Sans" pitchFamily="2" charset="0"/>
              </a:rPr>
              <a:t>Overview</a:t>
            </a:r>
          </a:p>
        </p:txBody>
      </p:sp>
      <p:sp>
        <p:nvSpPr>
          <p:cNvPr id="3" name="TextBox 2">
            <a:extLst>
              <a:ext uri="{FF2B5EF4-FFF2-40B4-BE49-F238E27FC236}">
                <a16:creationId xmlns:a16="http://schemas.microsoft.com/office/drawing/2014/main" id="{AA6A62AA-CAC5-E81E-82AE-B4673A7A1EF0}"/>
              </a:ext>
            </a:extLst>
          </p:cNvPr>
          <p:cNvSpPr txBox="1"/>
          <p:nvPr/>
        </p:nvSpPr>
        <p:spPr>
          <a:xfrm>
            <a:off x="839304" y="2092739"/>
            <a:ext cx="10013279"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0" i="0">
                <a:latin typeface="-apple-system"/>
                <a:ea typeface="-apple-system"/>
                <a:cs typeface="-apple-system"/>
              </a:rPr>
              <a:t>This project develops a machine learning system to forecast weekly sales for Walmart stores across 45 locations and 99 departments. The goal is to predict future sales using historical data, store characteristics, external factors, and promotional activities.</a:t>
            </a:r>
            <a:endParaRPr lang="en-US" sz="2800"/>
          </a:p>
          <a:p>
            <a:pPr algn="ctr"/>
            <a:endParaRPr lang="en-US" sz="2800"/>
          </a:p>
        </p:txBody>
      </p:sp>
    </p:spTree>
    <p:extLst>
      <p:ext uri="{BB962C8B-B14F-4D97-AF65-F5344CB8AC3E}">
        <p14:creationId xmlns:p14="http://schemas.microsoft.com/office/powerpoint/2010/main" val="881851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3ED50-09C9-BC7D-AF58-83EDF8C07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E9D3D-1314-008A-4BFE-0AED0C781D1F}"/>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Milestone 1: Data Preprocessing &amp; Feature Engineering</a:t>
            </a:r>
          </a:p>
        </p:txBody>
      </p:sp>
      <p:sp>
        <p:nvSpPr>
          <p:cNvPr id="3" name="Title 1">
            <a:extLst>
              <a:ext uri="{FF2B5EF4-FFF2-40B4-BE49-F238E27FC236}">
                <a16:creationId xmlns:a16="http://schemas.microsoft.com/office/drawing/2014/main" id="{126D69AE-18CE-9ADC-ABFA-A06D91B6B36B}"/>
              </a:ext>
            </a:extLst>
          </p:cNvPr>
          <p:cNvSpPr txBox="1">
            <a:spLocks/>
          </p:cNvSpPr>
          <p:nvPr/>
        </p:nvSpPr>
        <p:spPr>
          <a:xfrm>
            <a:off x="561668" y="1879291"/>
            <a:ext cx="10891684" cy="2358412"/>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3200">
                <a:latin typeface="Josefin Sans" pitchFamily="2" charset="0"/>
              </a:rPr>
              <a:t>In this milestone, our main goal was to transform raw historical Walmart data into a clean, rich, feature-engineered dataset that is ready for forecasting. </a:t>
            </a:r>
          </a:p>
          <a:p>
            <a:pPr algn="just"/>
            <a:endParaRPr lang="en-US" sz="3200">
              <a:latin typeface="Josefin Sans" pitchFamily="2" charset="0"/>
            </a:endParaRPr>
          </a:p>
          <a:p>
            <a:pPr algn="just"/>
            <a:r>
              <a:rPr lang="en-US" sz="3200">
                <a:latin typeface="Josefin Sans" pitchFamily="2" charset="0"/>
              </a:rPr>
              <a:t>Stage 1 forms the foundation for all later modeling and analysis.</a:t>
            </a:r>
          </a:p>
        </p:txBody>
      </p:sp>
    </p:spTree>
    <p:extLst>
      <p:ext uri="{BB962C8B-B14F-4D97-AF65-F5344CB8AC3E}">
        <p14:creationId xmlns:p14="http://schemas.microsoft.com/office/powerpoint/2010/main" val="3497771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76015-8934-7A34-13EE-0EB7E9C8C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F409A-E3B6-6C06-DA61-8232992E31B1}"/>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Milestone 1: Overview of Stage 1</a:t>
            </a:r>
          </a:p>
        </p:txBody>
      </p:sp>
      <p:grpSp>
        <p:nvGrpSpPr>
          <p:cNvPr id="15" name="Group 14">
            <a:extLst>
              <a:ext uri="{FF2B5EF4-FFF2-40B4-BE49-F238E27FC236}">
                <a16:creationId xmlns:a16="http://schemas.microsoft.com/office/drawing/2014/main" id="{37B9911E-400D-A1E6-0C97-B9A6D2757414}"/>
              </a:ext>
            </a:extLst>
          </p:cNvPr>
          <p:cNvGrpSpPr/>
          <p:nvPr/>
        </p:nvGrpSpPr>
        <p:grpSpPr>
          <a:xfrm>
            <a:off x="4002344" y="1582532"/>
            <a:ext cx="3647768" cy="4552796"/>
            <a:chOff x="4002344" y="1582532"/>
            <a:chExt cx="3647768" cy="4552796"/>
          </a:xfrm>
        </p:grpSpPr>
        <p:sp>
          <p:nvSpPr>
            <p:cNvPr id="4" name="Rectangle: Rounded Corners 3">
              <a:extLst>
                <a:ext uri="{FF2B5EF4-FFF2-40B4-BE49-F238E27FC236}">
                  <a16:creationId xmlns:a16="http://schemas.microsoft.com/office/drawing/2014/main" id="{E97DB5A7-D38D-9680-3D39-A98449052CC8}"/>
                </a:ext>
              </a:extLst>
            </p:cNvPr>
            <p:cNvSpPr/>
            <p:nvPr/>
          </p:nvSpPr>
          <p:spPr>
            <a:xfrm>
              <a:off x="4002345" y="1582532"/>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atin typeface="Josefin Sans" pitchFamily="2" charset="0"/>
                </a:rPr>
                <a:t>Data Loading &amp; Cleaning</a:t>
              </a:r>
            </a:p>
          </p:txBody>
        </p:sp>
        <p:sp>
          <p:nvSpPr>
            <p:cNvPr id="5" name="Rectangle: Rounded Corners 4">
              <a:extLst>
                <a:ext uri="{FF2B5EF4-FFF2-40B4-BE49-F238E27FC236}">
                  <a16:creationId xmlns:a16="http://schemas.microsoft.com/office/drawing/2014/main" id="{44B5F087-92BC-09E5-4D38-ABCB9A8E59AD}"/>
                </a:ext>
              </a:extLst>
            </p:cNvPr>
            <p:cNvSpPr/>
            <p:nvPr/>
          </p:nvSpPr>
          <p:spPr>
            <a:xfrm>
              <a:off x="4002345" y="2821396"/>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Exploratory Data Analysis</a:t>
              </a:r>
              <a:endParaRPr lang="en-US">
                <a:latin typeface="Josefin Sans" pitchFamily="2" charset="0"/>
              </a:endParaRPr>
            </a:p>
          </p:txBody>
        </p:sp>
        <p:sp>
          <p:nvSpPr>
            <p:cNvPr id="6" name="Rectangle: Rounded Corners 5">
              <a:extLst>
                <a:ext uri="{FF2B5EF4-FFF2-40B4-BE49-F238E27FC236}">
                  <a16:creationId xmlns:a16="http://schemas.microsoft.com/office/drawing/2014/main" id="{4A3FABB5-3F4B-1CA9-0AF1-61C6FD48A62A}"/>
                </a:ext>
              </a:extLst>
            </p:cNvPr>
            <p:cNvSpPr/>
            <p:nvPr/>
          </p:nvSpPr>
          <p:spPr>
            <a:xfrm>
              <a:off x="4002345" y="4060260"/>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Feature Engineering</a:t>
              </a:r>
              <a:endParaRPr lang="en-US">
                <a:latin typeface="Josefin Sans" pitchFamily="2" charset="0"/>
              </a:endParaRPr>
            </a:p>
          </p:txBody>
        </p:sp>
        <p:sp>
          <p:nvSpPr>
            <p:cNvPr id="7" name="Rectangle: Rounded Corners 6">
              <a:extLst>
                <a:ext uri="{FF2B5EF4-FFF2-40B4-BE49-F238E27FC236}">
                  <a16:creationId xmlns:a16="http://schemas.microsoft.com/office/drawing/2014/main" id="{D2BC5AF1-C553-DF1E-0DEC-7439C589AFBC}"/>
                </a:ext>
              </a:extLst>
            </p:cNvPr>
            <p:cNvSpPr/>
            <p:nvPr/>
          </p:nvSpPr>
          <p:spPr>
            <a:xfrm>
              <a:off x="4002344" y="5299124"/>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Final Dataset Generation</a:t>
              </a:r>
              <a:endParaRPr lang="en-US">
                <a:latin typeface="Josefin Sans" pitchFamily="2" charset="0"/>
              </a:endParaRPr>
            </a:p>
          </p:txBody>
        </p:sp>
        <p:cxnSp>
          <p:nvCxnSpPr>
            <p:cNvPr id="9" name="Straight Arrow Connector 8">
              <a:extLst>
                <a:ext uri="{FF2B5EF4-FFF2-40B4-BE49-F238E27FC236}">
                  <a16:creationId xmlns:a16="http://schemas.microsoft.com/office/drawing/2014/main" id="{345756D4-393F-1EDC-4EB4-4C2A2C099427}"/>
                </a:ext>
              </a:extLst>
            </p:cNvPr>
            <p:cNvCxnSpPr>
              <a:stCxn id="4" idx="2"/>
              <a:endCxn id="5" idx="0"/>
            </p:cNvCxnSpPr>
            <p:nvPr/>
          </p:nvCxnSpPr>
          <p:spPr>
            <a:xfrm>
              <a:off x="5826229" y="2418736"/>
              <a:ext cx="0" cy="402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D41250D-9006-FB6B-57A6-AD60D367A5F7}"/>
                </a:ext>
              </a:extLst>
            </p:cNvPr>
            <p:cNvCxnSpPr/>
            <p:nvPr/>
          </p:nvCxnSpPr>
          <p:spPr>
            <a:xfrm>
              <a:off x="5841591" y="3657600"/>
              <a:ext cx="0" cy="402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498CBA5-99DC-2BBC-627E-FAABAFC79B88}"/>
                </a:ext>
              </a:extLst>
            </p:cNvPr>
            <p:cNvCxnSpPr/>
            <p:nvPr/>
          </p:nvCxnSpPr>
          <p:spPr>
            <a:xfrm>
              <a:off x="5817624" y="4896464"/>
              <a:ext cx="0" cy="402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51728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9B97-83B7-D4CF-FABF-9438F8061B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5E1E9-FA15-F3E9-CC6A-EA375A853A1A}"/>
              </a:ext>
            </a:extLst>
          </p:cNvPr>
          <p:cNvSpPr>
            <a:spLocks noGrp="1"/>
          </p:cNvSpPr>
          <p:nvPr>
            <p:ph type="title"/>
          </p:nvPr>
        </p:nvSpPr>
        <p:spPr>
          <a:xfrm>
            <a:off x="621485" y="-172846"/>
            <a:ext cx="10891684" cy="1325563"/>
          </a:xfrm>
        </p:spPr>
        <p:txBody>
          <a:bodyPr>
            <a:normAutofit/>
          </a:bodyPr>
          <a:lstStyle/>
          <a:p>
            <a:r>
              <a:rPr lang="en-US" sz="3200">
                <a:latin typeface="Josefin Sans" pitchFamily="2" charset="0"/>
              </a:rPr>
              <a:t>Milestone 1: Raw Data Inputs</a:t>
            </a:r>
          </a:p>
        </p:txBody>
      </p:sp>
      <p:pic>
        <p:nvPicPr>
          <p:cNvPr id="1026" name="Picture 2" descr="Excel file - Free files and folders icons">
            <a:extLst>
              <a:ext uri="{FF2B5EF4-FFF2-40B4-BE49-F238E27FC236}">
                <a16:creationId xmlns:a16="http://schemas.microsoft.com/office/drawing/2014/main" id="{44609840-A055-3349-85A5-30A141FEDD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647" y="3215380"/>
            <a:ext cx="1700575" cy="17005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Excel file - Free files and folders icons">
            <a:extLst>
              <a:ext uri="{FF2B5EF4-FFF2-40B4-BE49-F238E27FC236}">
                <a16:creationId xmlns:a16="http://schemas.microsoft.com/office/drawing/2014/main" id="{ED6B38B7-E278-C7EB-08F3-AE17781E8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5413" y="3260840"/>
            <a:ext cx="1700575" cy="17005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Excel file - Free files and folders icons">
            <a:extLst>
              <a:ext uri="{FF2B5EF4-FFF2-40B4-BE49-F238E27FC236}">
                <a16:creationId xmlns:a16="http://schemas.microsoft.com/office/drawing/2014/main" id="{9A1C57ED-E6C7-4D78-2573-CEDDFDC668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8799" y="3222045"/>
            <a:ext cx="1700575" cy="1700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xcel file - Free files and folders icons">
            <a:extLst>
              <a:ext uri="{FF2B5EF4-FFF2-40B4-BE49-F238E27FC236}">
                <a16:creationId xmlns:a16="http://schemas.microsoft.com/office/drawing/2014/main" id="{5A2CBA6B-E07A-56FA-2E37-22F9B3ADF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0048" y="3214513"/>
            <a:ext cx="1700575" cy="17005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9CF10FF-9444-64A9-8AAF-12EF71894762}"/>
              </a:ext>
            </a:extLst>
          </p:cNvPr>
          <p:cNvSpPr txBox="1"/>
          <p:nvPr/>
        </p:nvSpPr>
        <p:spPr>
          <a:xfrm>
            <a:off x="579714" y="4864288"/>
            <a:ext cx="2634640" cy="954107"/>
          </a:xfrm>
          <a:prstGeom prst="rect">
            <a:avLst/>
          </a:prstGeom>
          <a:noFill/>
        </p:spPr>
        <p:txBody>
          <a:bodyPr wrap="square" rtlCol="0">
            <a:spAutoFit/>
          </a:bodyPr>
          <a:lstStyle/>
          <a:p>
            <a:pPr algn="ctr"/>
            <a:r>
              <a:rPr lang="en-US" sz="2800" err="1">
                <a:latin typeface="Josefin Sans" pitchFamily="2" charset="0"/>
              </a:rPr>
              <a:t>train.csv</a:t>
            </a:r>
            <a:r>
              <a:rPr lang="en-US" sz="2800">
                <a:latin typeface="Josefin Sans" pitchFamily="2" charset="0"/>
              </a:rPr>
              <a:t> (421,570 rows)</a:t>
            </a:r>
          </a:p>
        </p:txBody>
      </p:sp>
      <p:sp>
        <p:nvSpPr>
          <p:cNvPr id="8" name="TextBox 7">
            <a:extLst>
              <a:ext uri="{FF2B5EF4-FFF2-40B4-BE49-F238E27FC236}">
                <a16:creationId xmlns:a16="http://schemas.microsoft.com/office/drawing/2014/main" id="{E1DD20DF-1EA3-6785-561F-D93C31DCA046}"/>
              </a:ext>
            </a:extLst>
          </p:cNvPr>
          <p:cNvSpPr txBox="1"/>
          <p:nvPr/>
        </p:nvSpPr>
        <p:spPr>
          <a:xfrm>
            <a:off x="3323170" y="4892062"/>
            <a:ext cx="2634640" cy="954107"/>
          </a:xfrm>
          <a:prstGeom prst="rect">
            <a:avLst/>
          </a:prstGeom>
          <a:noFill/>
        </p:spPr>
        <p:txBody>
          <a:bodyPr wrap="square" rtlCol="0">
            <a:spAutoFit/>
          </a:bodyPr>
          <a:lstStyle/>
          <a:p>
            <a:pPr algn="ctr"/>
            <a:r>
              <a:rPr lang="en-US" sz="2800" err="1"/>
              <a:t>test.csv</a:t>
            </a:r>
            <a:r>
              <a:rPr lang="en-US" sz="2800"/>
              <a:t> (115,064 rows)</a:t>
            </a:r>
            <a:endParaRPr lang="en-US" sz="2800">
              <a:latin typeface="Josefin Sans" pitchFamily="2" charset="0"/>
            </a:endParaRPr>
          </a:p>
        </p:txBody>
      </p:sp>
      <p:sp>
        <p:nvSpPr>
          <p:cNvPr id="9" name="TextBox 8">
            <a:extLst>
              <a:ext uri="{FF2B5EF4-FFF2-40B4-BE49-F238E27FC236}">
                <a16:creationId xmlns:a16="http://schemas.microsoft.com/office/drawing/2014/main" id="{CBC3D465-F106-8ED0-0DE3-4C4E104C0A57}"/>
              </a:ext>
            </a:extLst>
          </p:cNvPr>
          <p:cNvSpPr txBox="1"/>
          <p:nvPr/>
        </p:nvSpPr>
        <p:spPr>
          <a:xfrm>
            <a:off x="6397179" y="4909979"/>
            <a:ext cx="2634640" cy="523220"/>
          </a:xfrm>
          <a:prstGeom prst="rect">
            <a:avLst/>
          </a:prstGeom>
          <a:noFill/>
        </p:spPr>
        <p:txBody>
          <a:bodyPr wrap="square" rtlCol="0">
            <a:spAutoFit/>
          </a:bodyPr>
          <a:lstStyle/>
          <a:p>
            <a:pPr algn="ctr"/>
            <a:r>
              <a:rPr lang="en-US" sz="2800" err="1"/>
              <a:t>features.xlsx</a:t>
            </a:r>
            <a:endParaRPr lang="en-US" sz="2800">
              <a:latin typeface="Josefin Sans" pitchFamily="2" charset="0"/>
            </a:endParaRPr>
          </a:p>
        </p:txBody>
      </p:sp>
      <p:sp>
        <p:nvSpPr>
          <p:cNvPr id="10" name="TextBox 9">
            <a:extLst>
              <a:ext uri="{FF2B5EF4-FFF2-40B4-BE49-F238E27FC236}">
                <a16:creationId xmlns:a16="http://schemas.microsoft.com/office/drawing/2014/main" id="{00849521-6A3C-0790-DEFC-BD23B7CEC400}"/>
              </a:ext>
            </a:extLst>
          </p:cNvPr>
          <p:cNvSpPr txBox="1"/>
          <p:nvPr/>
        </p:nvSpPr>
        <p:spPr>
          <a:xfrm>
            <a:off x="9202185" y="4871820"/>
            <a:ext cx="2634640" cy="523220"/>
          </a:xfrm>
          <a:prstGeom prst="rect">
            <a:avLst/>
          </a:prstGeom>
          <a:noFill/>
        </p:spPr>
        <p:txBody>
          <a:bodyPr wrap="square" rtlCol="0">
            <a:spAutoFit/>
          </a:bodyPr>
          <a:lstStyle/>
          <a:p>
            <a:pPr algn="ctr"/>
            <a:r>
              <a:rPr lang="en-US" sz="2800" err="1"/>
              <a:t>stores.csv</a:t>
            </a:r>
            <a:endParaRPr lang="en-US" sz="2800">
              <a:latin typeface="Josefin Sans" pitchFamily="2" charset="0"/>
            </a:endParaRPr>
          </a:p>
        </p:txBody>
      </p:sp>
      <p:sp>
        <p:nvSpPr>
          <p:cNvPr id="11" name="TextBox 10">
            <a:extLst>
              <a:ext uri="{FF2B5EF4-FFF2-40B4-BE49-F238E27FC236}">
                <a16:creationId xmlns:a16="http://schemas.microsoft.com/office/drawing/2014/main" id="{6C0B03F7-FA8C-197F-76C8-530E0EB14BEB}"/>
              </a:ext>
            </a:extLst>
          </p:cNvPr>
          <p:cNvSpPr txBox="1"/>
          <p:nvPr/>
        </p:nvSpPr>
        <p:spPr>
          <a:xfrm>
            <a:off x="6606796" y="5657671"/>
            <a:ext cx="2634640" cy="1200329"/>
          </a:xfrm>
          <a:prstGeom prst="rect">
            <a:avLst/>
          </a:prstGeom>
          <a:noFill/>
        </p:spPr>
        <p:txBody>
          <a:bodyPr wrap="square" rtlCol="0">
            <a:spAutoFit/>
          </a:bodyPr>
          <a:lstStyle/>
          <a:p>
            <a:r>
              <a:rPr lang="en-US" sz="2400" err="1">
                <a:latin typeface="Josefin Sans" pitchFamily="2" charset="0"/>
              </a:rPr>
              <a:t>Temperture</a:t>
            </a:r>
            <a:endParaRPr lang="en-US" sz="2400">
              <a:latin typeface="Josefin Sans" pitchFamily="2" charset="0"/>
            </a:endParaRPr>
          </a:p>
          <a:p>
            <a:r>
              <a:rPr lang="en-US" sz="2400">
                <a:latin typeface="Josefin Sans" pitchFamily="2" charset="0"/>
              </a:rPr>
              <a:t>Fuel Price</a:t>
            </a:r>
          </a:p>
          <a:p>
            <a:r>
              <a:rPr lang="en-US" sz="2400">
                <a:latin typeface="Josefin Sans" pitchFamily="2" charset="0"/>
              </a:rPr>
              <a:t>Markdown</a:t>
            </a:r>
          </a:p>
        </p:txBody>
      </p:sp>
      <p:sp>
        <p:nvSpPr>
          <p:cNvPr id="12" name="Left Bracket 11">
            <a:extLst>
              <a:ext uri="{FF2B5EF4-FFF2-40B4-BE49-F238E27FC236}">
                <a16:creationId xmlns:a16="http://schemas.microsoft.com/office/drawing/2014/main" id="{58E6DE52-2C16-9049-4E2E-CB43C4B01CBE}"/>
              </a:ext>
            </a:extLst>
          </p:cNvPr>
          <p:cNvSpPr/>
          <p:nvPr/>
        </p:nvSpPr>
        <p:spPr>
          <a:xfrm>
            <a:off x="6400319" y="5273039"/>
            <a:ext cx="96960" cy="734291"/>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4655C0F3-A7AF-C804-B136-5C95EC7A9029}"/>
              </a:ext>
            </a:extLst>
          </p:cNvPr>
          <p:cNvSpPr txBox="1"/>
          <p:nvPr/>
        </p:nvSpPr>
        <p:spPr>
          <a:xfrm>
            <a:off x="9780905" y="5657671"/>
            <a:ext cx="2634640" cy="830997"/>
          </a:xfrm>
          <a:prstGeom prst="rect">
            <a:avLst/>
          </a:prstGeom>
          <a:noFill/>
        </p:spPr>
        <p:txBody>
          <a:bodyPr wrap="square" rtlCol="0">
            <a:spAutoFit/>
          </a:bodyPr>
          <a:lstStyle/>
          <a:p>
            <a:r>
              <a:rPr lang="en-US" sz="2400">
                <a:latin typeface="Josefin Sans" pitchFamily="2" charset="0"/>
              </a:rPr>
              <a:t>Type</a:t>
            </a:r>
          </a:p>
          <a:p>
            <a:r>
              <a:rPr lang="en-US" sz="2400">
                <a:latin typeface="Josefin Sans" pitchFamily="2" charset="0"/>
              </a:rPr>
              <a:t>Size</a:t>
            </a:r>
          </a:p>
        </p:txBody>
      </p:sp>
      <p:sp>
        <p:nvSpPr>
          <p:cNvPr id="14" name="Left Bracket 13">
            <a:extLst>
              <a:ext uri="{FF2B5EF4-FFF2-40B4-BE49-F238E27FC236}">
                <a16:creationId xmlns:a16="http://schemas.microsoft.com/office/drawing/2014/main" id="{9C60A948-DE40-4A94-78FF-EC30678C14FD}"/>
              </a:ext>
            </a:extLst>
          </p:cNvPr>
          <p:cNvSpPr/>
          <p:nvPr/>
        </p:nvSpPr>
        <p:spPr>
          <a:xfrm>
            <a:off x="9574428" y="5273039"/>
            <a:ext cx="51241" cy="734292"/>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6" name="Picture 15" descr="A close-up of a screen&#10;&#10;AI-generated content may be incorrect.">
            <a:extLst>
              <a:ext uri="{FF2B5EF4-FFF2-40B4-BE49-F238E27FC236}">
                <a16:creationId xmlns:a16="http://schemas.microsoft.com/office/drawing/2014/main" id="{57B997B4-DE85-29B0-6154-D35A13D0C5EB}"/>
              </a:ext>
            </a:extLst>
          </p:cNvPr>
          <p:cNvPicPr>
            <a:picLocks noChangeAspect="1"/>
          </p:cNvPicPr>
          <p:nvPr/>
        </p:nvPicPr>
        <p:blipFill>
          <a:blip r:embed="rId3"/>
          <a:stretch>
            <a:fillRect/>
          </a:stretch>
        </p:blipFill>
        <p:spPr>
          <a:xfrm>
            <a:off x="5787367" y="1190876"/>
            <a:ext cx="5944719" cy="1269509"/>
          </a:xfrm>
          <a:prstGeom prst="rect">
            <a:avLst/>
          </a:prstGeom>
        </p:spPr>
      </p:pic>
      <p:sp>
        <p:nvSpPr>
          <p:cNvPr id="18" name="TextBox 17">
            <a:extLst>
              <a:ext uri="{FF2B5EF4-FFF2-40B4-BE49-F238E27FC236}">
                <a16:creationId xmlns:a16="http://schemas.microsoft.com/office/drawing/2014/main" id="{E840EE1F-5BAC-1E0F-3AC5-D73F6BEF0160}"/>
              </a:ext>
            </a:extLst>
          </p:cNvPr>
          <p:cNvSpPr txBox="1"/>
          <p:nvPr/>
        </p:nvSpPr>
        <p:spPr>
          <a:xfrm>
            <a:off x="106274" y="1190876"/>
            <a:ext cx="5289714" cy="2569934"/>
          </a:xfrm>
          <a:prstGeom prst="rect">
            <a:avLst/>
          </a:prstGeom>
          <a:noFill/>
        </p:spPr>
        <p:txBody>
          <a:bodyPr wrap="square" rtlCol="0">
            <a:spAutoFit/>
          </a:bodyPr>
          <a:lstStyle/>
          <a:p>
            <a:pPr algn="just"/>
            <a:r>
              <a:rPr lang="en-US" sz="2300">
                <a:latin typeface="Josefin Sans" pitchFamily="2" charset="0"/>
              </a:rPr>
              <a:t>Our input data included historical weekly sales, store information, and external factors such as CPI, fuel price, and markdown promotions. The challenge was merging all this information into a unified structure.</a:t>
            </a:r>
          </a:p>
          <a:p>
            <a:pPr algn="just"/>
            <a:endParaRPr lang="en-US" sz="2300">
              <a:latin typeface="Josefin Sans" pitchFamily="2" charset="0"/>
            </a:endParaRPr>
          </a:p>
        </p:txBody>
      </p:sp>
    </p:spTree>
    <p:extLst>
      <p:ext uri="{BB962C8B-B14F-4D97-AF65-F5344CB8AC3E}">
        <p14:creationId xmlns:p14="http://schemas.microsoft.com/office/powerpoint/2010/main" val="567537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1E28CFD-3310-B2FD-F891-3838DB05D5CD}"/>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Step 1.1: Data Loading &amp; Merging</a:t>
            </a:r>
          </a:p>
        </p:txBody>
      </p:sp>
      <p:sp>
        <p:nvSpPr>
          <p:cNvPr id="5" name="TextBox 4">
            <a:extLst>
              <a:ext uri="{FF2B5EF4-FFF2-40B4-BE49-F238E27FC236}">
                <a16:creationId xmlns:a16="http://schemas.microsoft.com/office/drawing/2014/main" id="{08CB3480-9E40-2DB8-6A92-2FF7F9B71414}"/>
              </a:ext>
            </a:extLst>
          </p:cNvPr>
          <p:cNvSpPr txBox="1"/>
          <p:nvPr/>
        </p:nvSpPr>
        <p:spPr>
          <a:xfrm>
            <a:off x="650158" y="1300346"/>
            <a:ext cx="11165840" cy="1938992"/>
          </a:xfrm>
          <a:prstGeom prst="rect">
            <a:avLst/>
          </a:prstGeom>
          <a:noFill/>
        </p:spPr>
        <p:txBody>
          <a:bodyPr wrap="square" rtlCol="0">
            <a:spAutoFit/>
          </a:bodyPr>
          <a:lstStyle/>
          <a:p>
            <a:r>
              <a:rPr lang="en-US" sz="2400">
                <a:latin typeface="Josefin Sans" pitchFamily="2" charset="0"/>
              </a:rPr>
              <a:t>In Step 1.1, we merged all datasets into consolidated training and test files.</a:t>
            </a:r>
            <a:br>
              <a:rPr lang="en-US" sz="2400">
                <a:latin typeface="Josefin Sans" pitchFamily="2" charset="0"/>
              </a:rPr>
            </a:br>
            <a:r>
              <a:rPr lang="en-US" sz="2400">
                <a:latin typeface="Josefin Sans" pitchFamily="2" charset="0"/>
              </a:rPr>
              <a:t>This step ensured that every sales record now includes the corresponding store information and external features.</a:t>
            </a:r>
            <a:endParaRPr lang="ar-EG" sz="2400">
              <a:latin typeface="Josefin Sans" pitchFamily="2" charset="0"/>
            </a:endParaRPr>
          </a:p>
          <a:p>
            <a:br>
              <a:rPr lang="en-US" sz="2400">
                <a:latin typeface="Josefin Sans" pitchFamily="2" charset="0"/>
              </a:rPr>
            </a:br>
            <a:r>
              <a:rPr lang="en-US" sz="2400">
                <a:latin typeface="Josefin Sans" pitchFamily="2" charset="0"/>
              </a:rPr>
              <a:t>After merging, we had 16 columns in training data and 15 in test data.</a:t>
            </a:r>
          </a:p>
        </p:txBody>
      </p:sp>
      <p:pic>
        <p:nvPicPr>
          <p:cNvPr id="7" name="Picture 6" descr="A screenshot of a computer&#10;&#10;AI-generated content may be incorrect.">
            <a:extLst>
              <a:ext uri="{FF2B5EF4-FFF2-40B4-BE49-F238E27FC236}">
                <a16:creationId xmlns:a16="http://schemas.microsoft.com/office/drawing/2014/main" id="{8C655E72-46E7-F12E-8B79-E7080F983BFF}"/>
              </a:ext>
            </a:extLst>
          </p:cNvPr>
          <p:cNvPicPr>
            <a:picLocks noChangeAspect="1"/>
          </p:cNvPicPr>
          <p:nvPr/>
        </p:nvPicPr>
        <p:blipFill>
          <a:blip r:embed="rId2"/>
          <a:stretch>
            <a:fillRect/>
          </a:stretch>
        </p:blipFill>
        <p:spPr>
          <a:xfrm>
            <a:off x="513080" y="3429000"/>
            <a:ext cx="11165840" cy="2716015"/>
          </a:xfrm>
          <a:prstGeom prst="rect">
            <a:avLst/>
          </a:prstGeom>
        </p:spPr>
      </p:pic>
    </p:spTree>
    <p:extLst>
      <p:ext uri="{BB962C8B-B14F-4D97-AF65-F5344CB8AC3E}">
        <p14:creationId xmlns:p14="http://schemas.microsoft.com/office/powerpoint/2010/main" val="3526992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C8558-831D-D1BA-1BA0-11FBA3C30BB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95C600C-9DC8-1F92-A5D4-E8FB1E90855A}"/>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Step 1.2: Handling Missing Values</a:t>
            </a:r>
          </a:p>
        </p:txBody>
      </p:sp>
      <p:sp>
        <p:nvSpPr>
          <p:cNvPr id="5" name="TextBox 4">
            <a:extLst>
              <a:ext uri="{FF2B5EF4-FFF2-40B4-BE49-F238E27FC236}">
                <a16:creationId xmlns:a16="http://schemas.microsoft.com/office/drawing/2014/main" id="{15EB18D1-37F8-9E26-B264-3580EA5205A4}"/>
              </a:ext>
            </a:extLst>
          </p:cNvPr>
          <p:cNvSpPr txBox="1"/>
          <p:nvPr/>
        </p:nvSpPr>
        <p:spPr>
          <a:xfrm>
            <a:off x="650158" y="1300346"/>
            <a:ext cx="11165840" cy="2308324"/>
          </a:xfrm>
          <a:prstGeom prst="rect">
            <a:avLst/>
          </a:prstGeom>
          <a:noFill/>
        </p:spPr>
        <p:txBody>
          <a:bodyPr wrap="square" rtlCol="0">
            <a:spAutoFit/>
          </a:bodyPr>
          <a:lstStyle/>
          <a:p>
            <a:r>
              <a:rPr lang="en-US" sz="2400">
                <a:latin typeface="Josefin Sans" pitchFamily="2" charset="0"/>
              </a:rPr>
              <a:t>Markdown columns had high missing percentages—up to 74%.</a:t>
            </a:r>
            <a:br>
              <a:rPr lang="en-US" sz="2400">
                <a:latin typeface="Josefin Sans" pitchFamily="2" charset="0"/>
              </a:rPr>
            </a:br>
            <a:r>
              <a:rPr lang="en-US" sz="2400">
                <a:latin typeface="Josefin Sans" pitchFamily="2" charset="0"/>
              </a:rPr>
              <a:t>Instead of dropping them, we filled missing values with 0 and created binary indicator features to signal whether a markdown existed.</a:t>
            </a:r>
            <a:br>
              <a:rPr lang="en-US" sz="2400">
                <a:latin typeface="Josefin Sans" pitchFamily="2" charset="0"/>
              </a:rPr>
            </a:br>
            <a:r>
              <a:rPr lang="en-US" sz="2400">
                <a:latin typeface="Josefin Sans" pitchFamily="2" charset="0"/>
              </a:rPr>
              <a:t>This not only kept the data but also enriched it.</a:t>
            </a:r>
            <a:br>
              <a:rPr lang="en-US" sz="2400">
                <a:latin typeface="Josefin Sans" pitchFamily="2" charset="0"/>
              </a:rPr>
            </a:br>
            <a:r>
              <a:rPr lang="en-US" sz="2400">
                <a:latin typeface="Josefin Sans" pitchFamily="2" charset="0"/>
              </a:rPr>
              <a:t>By the end of this step, we achieved 100% completeness with </a:t>
            </a:r>
            <a:r>
              <a:rPr lang="en-US" sz="2400" b="1">
                <a:latin typeface="Josefin Sans" pitchFamily="2" charset="0"/>
              </a:rPr>
              <a:t>zero missing values</a:t>
            </a:r>
            <a:r>
              <a:rPr lang="en-US" sz="2400">
                <a:latin typeface="Josefin Sans" pitchFamily="2" charset="0"/>
              </a:rPr>
              <a:t>.</a:t>
            </a:r>
          </a:p>
        </p:txBody>
      </p:sp>
      <p:pic>
        <p:nvPicPr>
          <p:cNvPr id="3" name="Picture 2" descr="A grid of white squares&#10;&#10;AI-generated content may be incorrect.">
            <a:extLst>
              <a:ext uri="{FF2B5EF4-FFF2-40B4-BE49-F238E27FC236}">
                <a16:creationId xmlns:a16="http://schemas.microsoft.com/office/drawing/2014/main" id="{9EC97919-B55A-54E1-C92F-3791F0BC898C}"/>
              </a:ext>
            </a:extLst>
          </p:cNvPr>
          <p:cNvPicPr>
            <a:picLocks noChangeAspect="1"/>
          </p:cNvPicPr>
          <p:nvPr/>
        </p:nvPicPr>
        <p:blipFill>
          <a:blip r:embed="rId2"/>
          <a:srcRect b="35522"/>
          <a:stretch>
            <a:fillRect/>
          </a:stretch>
        </p:blipFill>
        <p:spPr>
          <a:xfrm>
            <a:off x="1308833" y="3526904"/>
            <a:ext cx="3230403" cy="3005769"/>
          </a:xfrm>
          <a:prstGeom prst="rect">
            <a:avLst/>
          </a:prstGeom>
        </p:spPr>
      </p:pic>
      <p:cxnSp>
        <p:nvCxnSpPr>
          <p:cNvPr id="7" name="Straight Arrow Connector 6">
            <a:extLst>
              <a:ext uri="{FF2B5EF4-FFF2-40B4-BE49-F238E27FC236}">
                <a16:creationId xmlns:a16="http://schemas.microsoft.com/office/drawing/2014/main" id="{BBC029DF-58DA-8D14-63EF-0A7FF25A257A}"/>
              </a:ext>
            </a:extLst>
          </p:cNvPr>
          <p:cNvCxnSpPr/>
          <p:nvPr/>
        </p:nvCxnSpPr>
        <p:spPr>
          <a:xfrm>
            <a:off x="5039360" y="4958772"/>
            <a:ext cx="23164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 name="Picture 8" descr="A screenshot of a computer&#10;&#10;AI-generated content may be incorrect.">
            <a:extLst>
              <a:ext uri="{FF2B5EF4-FFF2-40B4-BE49-F238E27FC236}">
                <a16:creationId xmlns:a16="http://schemas.microsoft.com/office/drawing/2014/main" id="{7BA8202E-139D-0048-10DE-F338F557DE97}"/>
              </a:ext>
            </a:extLst>
          </p:cNvPr>
          <p:cNvPicPr>
            <a:picLocks noChangeAspect="1"/>
          </p:cNvPicPr>
          <p:nvPr/>
        </p:nvPicPr>
        <p:blipFill>
          <a:blip r:embed="rId3"/>
          <a:stretch>
            <a:fillRect/>
          </a:stretch>
        </p:blipFill>
        <p:spPr>
          <a:xfrm>
            <a:off x="7471780" y="3429000"/>
            <a:ext cx="3411387" cy="3222818"/>
          </a:xfrm>
          <a:prstGeom prst="rect">
            <a:avLst/>
          </a:prstGeom>
        </p:spPr>
      </p:pic>
    </p:spTree>
    <p:extLst>
      <p:ext uri="{BB962C8B-B14F-4D97-AF65-F5344CB8AC3E}">
        <p14:creationId xmlns:p14="http://schemas.microsoft.com/office/powerpoint/2010/main" val="1025748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D9692-B4BE-C596-25C7-2B4732257C7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448DF05-83DE-8AA2-365C-79FDABB221AE}"/>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Step 1.3: Outlier Detection</a:t>
            </a:r>
          </a:p>
        </p:txBody>
      </p:sp>
      <p:sp>
        <p:nvSpPr>
          <p:cNvPr id="5" name="TextBox 4">
            <a:extLst>
              <a:ext uri="{FF2B5EF4-FFF2-40B4-BE49-F238E27FC236}">
                <a16:creationId xmlns:a16="http://schemas.microsoft.com/office/drawing/2014/main" id="{14A31D53-72C4-BF79-8C16-FB67DAE51ED7}"/>
              </a:ext>
            </a:extLst>
          </p:cNvPr>
          <p:cNvSpPr txBox="1"/>
          <p:nvPr/>
        </p:nvSpPr>
        <p:spPr>
          <a:xfrm>
            <a:off x="650158" y="1300346"/>
            <a:ext cx="11165840" cy="1200329"/>
          </a:xfrm>
          <a:prstGeom prst="rect">
            <a:avLst/>
          </a:prstGeom>
          <a:noFill/>
        </p:spPr>
        <p:txBody>
          <a:bodyPr wrap="square" rtlCol="0">
            <a:spAutoFit/>
          </a:bodyPr>
          <a:lstStyle/>
          <a:p>
            <a:r>
              <a:rPr lang="en-US" sz="2400">
                <a:latin typeface="Josefin Sans" pitchFamily="2" charset="0"/>
              </a:rPr>
              <a:t>We analyzed outliers using the </a:t>
            </a:r>
            <a:r>
              <a:rPr lang="en-US" sz="2400" err="1">
                <a:latin typeface="Josefin Sans" pitchFamily="2" charset="0"/>
              </a:rPr>
              <a:t>IQR</a:t>
            </a:r>
            <a:r>
              <a:rPr lang="en-US" sz="2400">
                <a:latin typeface="Josefin Sans" pitchFamily="2" charset="0"/>
              </a:rPr>
              <a:t> method and plotted distributions of sales. Although outliers existed, they represented real business events such as holiday spikes. We decided to keep all outliers to avoid removing meaningful patterns.</a:t>
            </a:r>
          </a:p>
        </p:txBody>
      </p:sp>
      <p:sp>
        <p:nvSpPr>
          <p:cNvPr id="3" name="TextBox 2">
            <a:extLst>
              <a:ext uri="{FF2B5EF4-FFF2-40B4-BE49-F238E27FC236}">
                <a16:creationId xmlns:a16="http://schemas.microsoft.com/office/drawing/2014/main" id="{203975DA-0889-9FE8-63F5-6A9B39B75335}"/>
              </a:ext>
            </a:extLst>
          </p:cNvPr>
          <p:cNvSpPr txBox="1"/>
          <p:nvPr/>
        </p:nvSpPr>
        <p:spPr>
          <a:xfrm>
            <a:off x="2971800" y="2587181"/>
            <a:ext cx="6248400" cy="400110"/>
          </a:xfrm>
          <a:prstGeom prst="rect">
            <a:avLst/>
          </a:prstGeom>
          <a:noFill/>
        </p:spPr>
        <p:txBody>
          <a:bodyPr wrap="square">
            <a:spAutoFit/>
          </a:bodyPr>
          <a:lstStyle/>
          <a:p>
            <a:r>
              <a:rPr lang="en-US" sz="2000" err="1">
                <a:latin typeface="Josefin Sans" pitchFamily="2" charset="0"/>
              </a:rPr>
              <a:t>IQR</a:t>
            </a:r>
            <a:r>
              <a:rPr lang="en-US" sz="2000">
                <a:latin typeface="Josefin Sans" pitchFamily="2" charset="0"/>
              </a:rPr>
              <a:t> method: </a:t>
            </a:r>
            <a:r>
              <a:rPr lang="en-US" sz="2000" err="1"/>
              <a:t>Q3</a:t>
            </a:r>
            <a:r>
              <a:rPr lang="en-US" sz="2000"/>
              <a:t> − </a:t>
            </a:r>
            <a:r>
              <a:rPr lang="en-US" sz="2000" err="1"/>
              <a:t>Q1</a:t>
            </a:r>
            <a:r>
              <a:rPr lang="en-US" sz="2000"/>
              <a:t> (middle half of the data).</a:t>
            </a:r>
            <a:endParaRPr lang="en-US" sz="2000">
              <a:latin typeface="Josefin Sans" pitchFamily="2" charset="0"/>
            </a:endParaRPr>
          </a:p>
        </p:txBody>
      </p:sp>
      <p:pic>
        <p:nvPicPr>
          <p:cNvPr id="7" name="Picture 6" descr="A graph with lines and numbers&#10;&#10;AI-generated content may be incorrect.">
            <a:extLst>
              <a:ext uri="{FF2B5EF4-FFF2-40B4-BE49-F238E27FC236}">
                <a16:creationId xmlns:a16="http://schemas.microsoft.com/office/drawing/2014/main" id="{1AD42DD4-BB5B-64A1-3ED6-885D2F455F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11" y="3759536"/>
            <a:ext cx="4827543" cy="2043938"/>
          </a:xfrm>
          <a:prstGeom prst="rect">
            <a:avLst/>
          </a:prstGeom>
        </p:spPr>
      </p:pic>
      <p:pic>
        <p:nvPicPr>
          <p:cNvPr id="9" name="Picture 8" descr="A graph with lines in the middle&#10;&#10;AI-generated content may be incorrect.">
            <a:extLst>
              <a:ext uri="{FF2B5EF4-FFF2-40B4-BE49-F238E27FC236}">
                <a16:creationId xmlns:a16="http://schemas.microsoft.com/office/drawing/2014/main" id="{F2D60F2E-9206-D896-309F-5F4B85B36B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3354" y="3759536"/>
            <a:ext cx="4150415" cy="2050177"/>
          </a:xfrm>
          <a:prstGeom prst="rect">
            <a:avLst/>
          </a:prstGeom>
        </p:spPr>
      </p:pic>
      <p:pic>
        <p:nvPicPr>
          <p:cNvPr id="6" name="Picture 5" descr="A graph with lines and numbers">
            <a:extLst>
              <a:ext uri="{FF2B5EF4-FFF2-40B4-BE49-F238E27FC236}">
                <a16:creationId xmlns:a16="http://schemas.microsoft.com/office/drawing/2014/main" id="{ECD622BF-027E-995F-E5B7-31402EE365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03769" y="3753297"/>
            <a:ext cx="3539153" cy="2050177"/>
          </a:xfrm>
          <a:prstGeom prst="rect">
            <a:avLst/>
          </a:prstGeom>
        </p:spPr>
      </p:pic>
    </p:spTree>
    <p:extLst>
      <p:ext uri="{BB962C8B-B14F-4D97-AF65-F5344CB8AC3E}">
        <p14:creationId xmlns:p14="http://schemas.microsoft.com/office/powerpoint/2010/main" val="2764134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ECB28-7747-229A-9771-40B77515334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9FF55B3-F1B5-CB22-696F-2F46C10C2A5C}"/>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Step 1.4: EDA — Understanding the Data</a:t>
            </a:r>
          </a:p>
        </p:txBody>
      </p:sp>
      <p:pic>
        <p:nvPicPr>
          <p:cNvPr id="2" name="Picture 1" descr="A graph showing sales&#10;&#10;AI-generated content may be incorrect.">
            <a:extLst>
              <a:ext uri="{FF2B5EF4-FFF2-40B4-BE49-F238E27FC236}">
                <a16:creationId xmlns:a16="http://schemas.microsoft.com/office/drawing/2014/main" id="{4FD4F431-D8F1-1CC1-AC7E-C651DF24DCC2}"/>
              </a:ext>
            </a:extLst>
          </p:cNvPr>
          <p:cNvPicPr>
            <a:picLocks noChangeAspect="1"/>
          </p:cNvPicPr>
          <p:nvPr/>
        </p:nvPicPr>
        <p:blipFill>
          <a:blip r:embed="rId2"/>
          <a:stretch>
            <a:fillRect/>
          </a:stretch>
        </p:blipFill>
        <p:spPr>
          <a:xfrm>
            <a:off x="0" y="1519701"/>
            <a:ext cx="12192000" cy="4511326"/>
          </a:xfrm>
          <a:prstGeom prst="rect">
            <a:avLst/>
          </a:prstGeom>
        </p:spPr>
      </p:pic>
    </p:spTree>
    <p:extLst>
      <p:ext uri="{BB962C8B-B14F-4D97-AF65-F5344CB8AC3E}">
        <p14:creationId xmlns:p14="http://schemas.microsoft.com/office/powerpoint/2010/main" val="1406551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DE6A2-5C4B-566D-A066-1EBA7E5C618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5B2B9E1-5C25-5352-3A89-4BB4F6565236}"/>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Step 1.4: EDA — Understanding the Data</a:t>
            </a:r>
          </a:p>
        </p:txBody>
      </p:sp>
      <p:pic>
        <p:nvPicPr>
          <p:cNvPr id="6" name="Picture 5" descr="A graph of sales&#10;&#10;AI-generated content may be incorrect.">
            <a:extLst>
              <a:ext uri="{FF2B5EF4-FFF2-40B4-BE49-F238E27FC236}">
                <a16:creationId xmlns:a16="http://schemas.microsoft.com/office/drawing/2014/main" id="{52542355-4563-3DD1-E389-5A9293AC8696}"/>
              </a:ext>
            </a:extLst>
          </p:cNvPr>
          <p:cNvPicPr>
            <a:picLocks noChangeAspect="1"/>
          </p:cNvPicPr>
          <p:nvPr/>
        </p:nvPicPr>
        <p:blipFill>
          <a:blip r:embed="rId2"/>
          <a:stretch>
            <a:fillRect/>
          </a:stretch>
        </p:blipFill>
        <p:spPr>
          <a:xfrm>
            <a:off x="2195388" y="1513706"/>
            <a:ext cx="7801224" cy="4653915"/>
          </a:xfrm>
          <a:prstGeom prst="rect">
            <a:avLst/>
          </a:prstGeom>
        </p:spPr>
      </p:pic>
    </p:spTree>
    <p:extLst>
      <p:ext uri="{BB962C8B-B14F-4D97-AF65-F5344CB8AC3E}">
        <p14:creationId xmlns:p14="http://schemas.microsoft.com/office/powerpoint/2010/main" val="140658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F799676-A57D-AB22-7F3C-E58A7BC370AB}"/>
              </a:ext>
            </a:extLst>
          </p:cNvPr>
          <p:cNvSpPr>
            <a:spLocks noGrp="1"/>
          </p:cNvSpPr>
          <p:nvPr>
            <p:ph type="title"/>
          </p:nvPr>
        </p:nvSpPr>
        <p:spPr>
          <a:xfrm>
            <a:off x="355518" y="76383"/>
            <a:ext cx="10891684" cy="1325563"/>
          </a:xfrm>
        </p:spPr>
        <p:txBody>
          <a:bodyPr>
            <a:normAutofit/>
          </a:bodyPr>
          <a:lstStyle/>
          <a:p>
            <a:r>
              <a:rPr lang="en-US" sz="3200">
                <a:latin typeface="Josefin Sans" pitchFamily="2" charset="0"/>
              </a:rPr>
              <a:t>Step 1.4: EDA — Understanding the Data</a:t>
            </a:r>
          </a:p>
        </p:txBody>
      </p:sp>
      <p:pic>
        <p:nvPicPr>
          <p:cNvPr id="2" name="Picture 1" descr="A graph and chart of sales">
            <a:extLst>
              <a:ext uri="{FF2B5EF4-FFF2-40B4-BE49-F238E27FC236}">
                <a16:creationId xmlns:a16="http://schemas.microsoft.com/office/drawing/2014/main" id="{3807AD7B-4C37-F1CB-5612-AB692DF4BC8D}"/>
              </a:ext>
            </a:extLst>
          </p:cNvPr>
          <p:cNvPicPr>
            <a:picLocks noChangeAspect="1"/>
          </p:cNvPicPr>
          <p:nvPr/>
        </p:nvPicPr>
        <p:blipFill>
          <a:blip r:embed="rId2"/>
          <a:stretch>
            <a:fillRect/>
          </a:stretch>
        </p:blipFill>
        <p:spPr>
          <a:xfrm>
            <a:off x="0" y="1398828"/>
            <a:ext cx="12192000" cy="5158520"/>
          </a:xfrm>
          <a:prstGeom prst="rect">
            <a:avLst/>
          </a:prstGeom>
        </p:spPr>
      </p:pic>
    </p:spTree>
    <p:extLst>
      <p:ext uri="{BB962C8B-B14F-4D97-AF65-F5344CB8AC3E}">
        <p14:creationId xmlns:p14="http://schemas.microsoft.com/office/powerpoint/2010/main" val="918864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FA34-29DA-1748-A282-2BE150EF5D5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E1C137C-5DDF-FB1D-7EA7-A4E03118B811}"/>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Step 1.4: EDA — Understanding the Data</a:t>
            </a:r>
          </a:p>
        </p:txBody>
      </p:sp>
      <p:pic>
        <p:nvPicPr>
          <p:cNvPr id="3" name="Picture 2" descr="A graph and a chart&#10;&#10;AI-generated content may be incorrect.">
            <a:extLst>
              <a:ext uri="{FF2B5EF4-FFF2-40B4-BE49-F238E27FC236}">
                <a16:creationId xmlns:a16="http://schemas.microsoft.com/office/drawing/2014/main" id="{3BDCB8EF-0D19-FE2F-FF0E-137180190094}"/>
              </a:ext>
            </a:extLst>
          </p:cNvPr>
          <p:cNvPicPr>
            <a:picLocks noChangeAspect="1"/>
          </p:cNvPicPr>
          <p:nvPr/>
        </p:nvPicPr>
        <p:blipFill>
          <a:blip r:embed="rId2"/>
          <a:stretch>
            <a:fillRect/>
          </a:stretch>
        </p:blipFill>
        <p:spPr>
          <a:xfrm>
            <a:off x="0" y="1513706"/>
            <a:ext cx="12192000" cy="4404159"/>
          </a:xfrm>
          <a:prstGeom prst="rect">
            <a:avLst/>
          </a:prstGeom>
        </p:spPr>
      </p:pic>
    </p:spTree>
    <p:extLst>
      <p:ext uri="{BB962C8B-B14F-4D97-AF65-F5344CB8AC3E}">
        <p14:creationId xmlns:p14="http://schemas.microsoft.com/office/powerpoint/2010/main" val="3051209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ADBF-CBC1-B1C3-CA0A-82A487238A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FC9959D-88F4-002C-FF52-BC3265B6FEAC}"/>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Step 1.4: EDA — Understanding the Data</a:t>
            </a:r>
          </a:p>
        </p:txBody>
      </p:sp>
      <p:pic>
        <p:nvPicPr>
          <p:cNvPr id="2" name="Picture 1" descr="A bar graph with blue bars&#10;&#10;AI-generated content may be incorrect.">
            <a:extLst>
              <a:ext uri="{FF2B5EF4-FFF2-40B4-BE49-F238E27FC236}">
                <a16:creationId xmlns:a16="http://schemas.microsoft.com/office/drawing/2014/main" id="{F5960B7F-1701-EA6A-BDDA-BA205B7092F2}"/>
              </a:ext>
            </a:extLst>
          </p:cNvPr>
          <p:cNvPicPr>
            <a:picLocks noChangeAspect="1"/>
          </p:cNvPicPr>
          <p:nvPr/>
        </p:nvPicPr>
        <p:blipFill>
          <a:blip r:embed="rId2"/>
          <a:stretch>
            <a:fillRect/>
          </a:stretch>
        </p:blipFill>
        <p:spPr>
          <a:xfrm>
            <a:off x="0" y="1510265"/>
            <a:ext cx="12192000" cy="5153651"/>
          </a:xfrm>
          <a:prstGeom prst="rect">
            <a:avLst/>
          </a:prstGeom>
        </p:spPr>
      </p:pic>
    </p:spTree>
    <p:extLst>
      <p:ext uri="{BB962C8B-B14F-4D97-AF65-F5344CB8AC3E}">
        <p14:creationId xmlns:p14="http://schemas.microsoft.com/office/powerpoint/2010/main" val="2822072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E4A5-2DD4-1521-3DD5-F7AD44DF139A}"/>
              </a:ext>
            </a:extLst>
          </p:cNvPr>
          <p:cNvSpPr>
            <a:spLocks noGrp="1"/>
          </p:cNvSpPr>
          <p:nvPr>
            <p:ph type="title"/>
          </p:nvPr>
        </p:nvSpPr>
        <p:spPr/>
        <p:txBody>
          <a:bodyPr/>
          <a:lstStyle/>
          <a:p>
            <a:r>
              <a:rPr lang="en-US">
                <a:latin typeface="Josefin Sans" pitchFamily="2" charset="0"/>
              </a:rPr>
              <a:t>Time Features (Step 1.3.1)</a:t>
            </a:r>
          </a:p>
        </p:txBody>
      </p:sp>
      <p:sp>
        <p:nvSpPr>
          <p:cNvPr id="4" name="TextBox 3">
            <a:extLst>
              <a:ext uri="{FF2B5EF4-FFF2-40B4-BE49-F238E27FC236}">
                <a16:creationId xmlns:a16="http://schemas.microsoft.com/office/drawing/2014/main" id="{10DEC7BE-BE20-DA25-9CCF-C5C7CFF6AE3C}"/>
              </a:ext>
            </a:extLst>
          </p:cNvPr>
          <p:cNvSpPr txBox="1"/>
          <p:nvPr/>
        </p:nvSpPr>
        <p:spPr>
          <a:xfrm>
            <a:off x="680720" y="1483360"/>
            <a:ext cx="6593840" cy="1015663"/>
          </a:xfrm>
          <a:prstGeom prst="rect">
            <a:avLst/>
          </a:prstGeom>
          <a:noFill/>
        </p:spPr>
        <p:txBody>
          <a:bodyPr wrap="square" rtlCol="0">
            <a:spAutoFit/>
          </a:bodyPr>
          <a:lstStyle/>
          <a:p>
            <a:r>
              <a:rPr lang="en-US" sz="2000" b="1" err="1">
                <a:latin typeface="Josefin Sans" pitchFamily="2" charset="0"/>
              </a:rPr>
              <a:t>Week_Sin</a:t>
            </a:r>
            <a:r>
              <a:rPr lang="en-US" sz="2000" b="1">
                <a:latin typeface="Josefin Sans" pitchFamily="2" charset="0"/>
              </a:rPr>
              <a:t> = sin( 2</a:t>
            </a:r>
            <a:r>
              <a:rPr lang="el-GR" sz="2000" b="1">
                <a:latin typeface="Josefin Sans" pitchFamily="2" charset="0"/>
              </a:rPr>
              <a:t>π × </a:t>
            </a:r>
            <a:r>
              <a:rPr lang="en-US" sz="2000" b="1">
                <a:latin typeface="Josefin Sans" pitchFamily="2" charset="0"/>
              </a:rPr>
              <a:t>week / </a:t>
            </a:r>
            <a:r>
              <a:rPr lang="en-US" sz="2000" b="1" err="1">
                <a:latin typeface="Josefin Sans" pitchFamily="2" charset="0"/>
              </a:rPr>
              <a:t>max_week</a:t>
            </a:r>
            <a:r>
              <a:rPr lang="en-US" sz="2000" b="1">
                <a:latin typeface="Josefin Sans" pitchFamily="2" charset="0"/>
              </a:rPr>
              <a:t> )</a:t>
            </a:r>
          </a:p>
          <a:p>
            <a:r>
              <a:rPr lang="en-US" sz="2000" b="1" err="1">
                <a:latin typeface="Josefin Sans" pitchFamily="2" charset="0"/>
              </a:rPr>
              <a:t>Week_Cos</a:t>
            </a:r>
            <a:r>
              <a:rPr lang="en-US" sz="2000" b="1">
                <a:latin typeface="Josefin Sans" pitchFamily="2" charset="0"/>
              </a:rPr>
              <a:t> = cos( 2</a:t>
            </a:r>
            <a:r>
              <a:rPr lang="el-GR" sz="2000" b="1">
                <a:latin typeface="Josefin Sans" pitchFamily="2" charset="0"/>
              </a:rPr>
              <a:t>π × </a:t>
            </a:r>
            <a:r>
              <a:rPr lang="en-US" sz="2000" b="1">
                <a:latin typeface="Josefin Sans" pitchFamily="2" charset="0"/>
              </a:rPr>
              <a:t>week / </a:t>
            </a:r>
            <a:r>
              <a:rPr lang="en-US" sz="2000" b="1" err="1">
                <a:latin typeface="Josefin Sans" pitchFamily="2" charset="0"/>
              </a:rPr>
              <a:t>max_week</a:t>
            </a:r>
            <a:r>
              <a:rPr lang="en-US" sz="2000" b="1">
                <a:latin typeface="Josefin Sans" pitchFamily="2" charset="0"/>
              </a:rPr>
              <a:t> )</a:t>
            </a:r>
          </a:p>
          <a:p>
            <a:endParaRPr lang="en-US" sz="2000">
              <a:latin typeface="Josefin Sans" pitchFamily="2" charset="0"/>
            </a:endParaRPr>
          </a:p>
        </p:txBody>
      </p:sp>
      <p:pic>
        <p:nvPicPr>
          <p:cNvPr id="6" name="Picture 5" descr="A screenshot of a computer&#10;&#10;AI-generated content may be incorrect.">
            <a:extLst>
              <a:ext uri="{FF2B5EF4-FFF2-40B4-BE49-F238E27FC236}">
                <a16:creationId xmlns:a16="http://schemas.microsoft.com/office/drawing/2014/main" id="{FE277EBA-C873-7982-10ED-46F4111238AC}"/>
              </a:ext>
            </a:extLst>
          </p:cNvPr>
          <p:cNvPicPr>
            <a:picLocks noChangeAspect="1"/>
          </p:cNvPicPr>
          <p:nvPr/>
        </p:nvPicPr>
        <p:blipFill>
          <a:blip r:embed="rId2"/>
          <a:stretch>
            <a:fillRect/>
          </a:stretch>
        </p:blipFill>
        <p:spPr>
          <a:xfrm>
            <a:off x="0" y="2306451"/>
            <a:ext cx="12192000" cy="3342378"/>
          </a:xfrm>
          <a:prstGeom prst="rect">
            <a:avLst/>
          </a:prstGeom>
        </p:spPr>
      </p:pic>
    </p:spTree>
    <p:extLst>
      <p:ext uri="{BB962C8B-B14F-4D97-AF65-F5344CB8AC3E}">
        <p14:creationId xmlns:p14="http://schemas.microsoft.com/office/powerpoint/2010/main" val="1625419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86D18-2CBB-A562-F31B-DF9A39C13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5CF2B-720F-E1C7-1575-9C8AC365FBF1}"/>
              </a:ext>
            </a:extLst>
          </p:cNvPr>
          <p:cNvSpPr>
            <a:spLocks noGrp="1"/>
          </p:cNvSpPr>
          <p:nvPr>
            <p:ph type="title"/>
          </p:nvPr>
        </p:nvSpPr>
        <p:spPr/>
        <p:txBody>
          <a:bodyPr/>
          <a:lstStyle/>
          <a:p>
            <a:r>
              <a:rPr lang="en-US">
                <a:latin typeface="Josefin Sans" pitchFamily="2" charset="0"/>
              </a:rPr>
              <a:t>Lag &amp; Rolling Features (Step 1.3.2)</a:t>
            </a:r>
          </a:p>
        </p:txBody>
      </p:sp>
      <p:sp>
        <p:nvSpPr>
          <p:cNvPr id="4" name="TextBox 3">
            <a:extLst>
              <a:ext uri="{FF2B5EF4-FFF2-40B4-BE49-F238E27FC236}">
                <a16:creationId xmlns:a16="http://schemas.microsoft.com/office/drawing/2014/main" id="{63FC97A4-F406-AE48-47DC-8AE9469FF257}"/>
              </a:ext>
            </a:extLst>
          </p:cNvPr>
          <p:cNvSpPr txBox="1"/>
          <p:nvPr/>
        </p:nvSpPr>
        <p:spPr>
          <a:xfrm>
            <a:off x="680720" y="1483360"/>
            <a:ext cx="8747760" cy="707886"/>
          </a:xfrm>
          <a:prstGeom prst="rect">
            <a:avLst/>
          </a:prstGeom>
          <a:noFill/>
        </p:spPr>
        <p:txBody>
          <a:bodyPr wrap="square" rtlCol="0">
            <a:spAutoFit/>
          </a:bodyPr>
          <a:lstStyle/>
          <a:p>
            <a:r>
              <a:rPr lang="en-US" sz="2000" b="1">
                <a:latin typeface="Josefin Sans" pitchFamily="2" charset="0"/>
              </a:rPr>
              <a:t>Lag features give the model memory of previous weeks’ sales.</a:t>
            </a:r>
            <a:br>
              <a:rPr lang="en-US" sz="2000">
                <a:latin typeface="Josefin Sans" pitchFamily="2" charset="0"/>
              </a:rPr>
            </a:br>
            <a:r>
              <a:rPr lang="en-US" sz="2000" b="1">
                <a:latin typeface="Josefin Sans" pitchFamily="2" charset="0"/>
              </a:rPr>
              <a:t>Rolling features summarize recent trends and stability in sales.</a:t>
            </a:r>
            <a:endParaRPr lang="en-US" sz="2000">
              <a:latin typeface="Josefin Sans" pitchFamily="2" charset="0"/>
            </a:endParaRPr>
          </a:p>
        </p:txBody>
      </p:sp>
      <p:pic>
        <p:nvPicPr>
          <p:cNvPr id="5" name="Picture 4" descr="A screenshot of a computer&#10;&#10;AI-generated content may be incorrect.">
            <a:extLst>
              <a:ext uri="{FF2B5EF4-FFF2-40B4-BE49-F238E27FC236}">
                <a16:creationId xmlns:a16="http://schemas.microsoft.com/office/drawing/2014/main" id="{DD0E7C72-6B11-23D5-C0B4-6B411F867461}"/>
              </a:ext>
            </a:extLst>
          </p:cNvPr>
          <p:cNvPicPr>
            <a:picLocks noChangeAspect="1"/>
          </p:cNvPicPr>
          <p:nvPr/>
        </p:nvPicPr>
        <p:blipFill>
          <a:blip r:embed="rId2"/>
          <a:stretch>
            <a:fillRect/>
          </a:stretch>
        </p:blipFill>
        <p:spPr>
          <a:xfrm>
            <a:off x="1155024" y="2282237"/>
            <a:ext cx="9678751" cy="4210638"/>
          </a:xfrm>
          <a:prstGeom prst="rect">
            <a:avLst/>
          </a:prstGeom>
        </p:spPr>
      </p:pic>
    </p:spTree>
    <p:extLst>
      <p:ext uri="{BB962C8B-B14F-4D97-AF65-F5344CB8AC3E}">
        <p14:creationId xmlns:p14="http://schemas.microsoft.com/office/powerpoint/2010/main" val="569856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DF5BF-731E-FDE9-8B3E-667DE3F2B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0F3C7-55D2-45B0-1D5A-55396C718498}"/>
              </a:ext>
            </a:extLst>
          </p:cNvPr>
          <p:cNvSpPr>
            <a:spLocks noGrp="1"/>
          </p:cNvSpPr>
          <p:nvPr>
            <p:ph type="title"/>
          </p:nvPr>
        </p:nvSpPr>
        <p:spPr/>
        <p:txBody>
          <a:bodyPr/>
          <a:lstStyle/>
          <a:p>
            <a:r>
              <a:rPr lang="en-US">
                <a:latin typeface="Josefin Sans" pitchFamily="2" charset="0"/>
              </a:rPr>
              <a:t>Lag &amp; Rolling Features (Step 1.3.2)</a:t>
            </a:r>
          </a:p>
        </p:txBody>
      </p:sp>
      <p:sp>
        <p:nvSpPr>
          <p:cNvPr id="3" name="TextBox 2">
            <a:extLst>
              <a:ext uri="{FF2B5EF4-FFF2-40B4-BE49-F238E27FC236}">
                <a16:creationId xmlns:a16="http://schemas.microsoft.com/office/drawing/2014/main" id="{2353E92A-9132-D0E6-733C-51A34A52789C}"/>
              </a:ext>
            </a:extLst>
          </p:cNvPr>
          <p:cNvSpPr txBox="1"/>
          <p:nvPr/>
        </p:nvSpPr>
        <p:spPr>
          <a:xfrm>
            <a:off x="838200" y="1390261"/>
            <a:ext cx="8585718" cy="369332"/>
          </a:xfrm>
          <a:prstGeom prst="rect">
            <a:avLst/>
          </a:prstGeom>
          <a:noFill/>
        </p:spPr>
        <p:txBody>
          <a:bodyPr wrap="square" rtlCol="0">
            <a:spAutoFit/>
          </a:bodyPr>
          <a:lstStyle/>
          <a:p>
            <a:r>
              <a:rPr lang="en-US">
                <a:solidFill>
                  <a:schemeClr val="tx2">
                    <a:lumMod val="75000"/>
                    <a:lumOff val="25000"/>
                  </a:schemeClr>
                </a:solidFill>
                <a:latin typeface="Josefin Sans" pitchFamily="2" charset="0"/>
              </a:rPr>
              <a:t>Our target from this is to conclude data that will help the prediction model</a:t>
            </a:r>
          </a:p>
        </p:txBody>
      </p:sp>
      <p:sp>
        <p:nvSpPr>
          <p:cNvPr id="7" name="TextBox 6">
            <a:extLst>
              <a:ext uri="{FF2B5EF4-FFF2-40B4-BE49-F238E27FC236}">
                <a16:creationId xmlns:a16="http://schemas.microsoft.com/office/drawing/2014/main" id="{3999F845-33D3-CB19-70F2-90FFF5360C51}"/>
              </a:ext>
            </a:extLst>
          </p:cNvPr>
          <p:cNvSpPr txBox="1"/>
          <p:nvPr/>
        </p:nvSpPr>
        <p:spPr>
          <a:xfrm>
            <a:off x="4765611" y="1908759"/>
            <a:ext cx="2372308" cy="369332"/>
          </a:xfrm>
          <a:prstGeom prst="rect">
            <a:avLst/>
          </a:prstGeom>
          <a:noFill/>
        </p:spPr>
        <p:txBody>
          <a:bodyPr wrap="square">
            <a:spAutoFit/>
          </a:bodyPr>
          <a:lstStyle/>
          <a:p>
            <a:r>
              <a:rPr lang="en-US">
                <a:latin typeface="Josefin Sans" pitchFamily="2" charset="0"/>
              </a:rPr>
              <a:t>Lag = past value</a:t>
            </a:r>
          </a:p>
        </p:txBody>
      </p:sp>
      <p:graphicFrame>
        <p:nvGraphicFramePr>
          <p:cNvPr id="8" name="Table 7">
            <a:extLst>
              <a:ext uri="{FF2B5EF4-FFF2-40B4-BE49-F238E27FC236}">
                <a16:creationId xmlns:a16="http://schemas.microsoft.com/office/drawing/2014/main" id="{ACA214CA-E7F9-452B-FC47-C1F64FC7BC9A}"/>
              </a:ext>
            </a:extLst>
          </p:cNvPr>
          <p:cNvGraphicFramePr>
            <a:graphicFrameLocks noGrp="1"/>
          </p:cNvGraphicFramePr>
          <p:nvPr>
            <p:extLst>
              <p:ext uri="{D42A27DB-BD31-4B8C-83A1-F6EECF244321}">
                <p14:modId xmlns:p14="http://schemas.microsoft.com/office/powerpoint/2010/main" val="1985771589"/>
              </p:ext>
            </p:extLst>
          </p:nvPr>
        </p:nvGraphicFramePr>
        <p:xfrm>
          <a:off x="2838644" y="2427257"/>
          <a:ext cx="6226242" cy="1463040"/>
        </p:xfrm>
        <a:graphic>
          <a:graphicData uri="http://schemas.openxmlformats.org/drawingml/2006/table">
            <a:tbl>
              <a:tblPr>
                <a:tableStyleId>{BC89EF96-8CEA-46FF-86C4-4CE0E7609802}</a:tableStyleId>
              </a:tblPr>
              <a:tblGrid>
                <a:gridCol w="3113121">
                  <a:extLst>
                    <a:ext uri="{9D8B030D-6E8A-4147-A177-3AD203B41FA5}">
                      <a16:colId xmlns:a16="http://schemas.microsoft.com/office/drawing/2014/main" val="791156496"/>
                    </a:ext>
                  </a:extLst>
                </a:gridCol>
                <a:gridCol w="3113121">
                  <a:extLst>
                    <a:ext uri="{9D8B030D-6E8A-4147-A177-3AD203B41FA5}">
                      <a16:colId xmlns:a16="http://schemas.microsoft.com/office/drawing/2014/main" val="2545831335"/>
                    </a:ext>
                  </a:extLst>
                </a:gridCol>
              </a:tblGrid>
              <a:tr h="0">
                <a:tc>
                  <a:txBody>
                    <a:bodyPr/>
                    <a:lstStyle/>
                    <a:p>
                      <a:pPr algn="ctr">
                        <a:buNone/>
                      </a:pPr>
                      <a:r>
                        <a:rPr lang="en-US">
                          <a:solidFill>
                            <a:schemeClr val="tx2">
                              <a:lumMod val="75000"/>
                              <a:lumOff val="25000"/>
                            </a:schemeClr>
                          </a:solidFill>
                          <a:latin typeface="Josefin Sans" pitchFamily="2" charset="0"/>
                        </a:rPr>
                        <a:t>Feature</a:t>
                      </a:r>
                    </a:p>
                  </a:txBody>
                  <a:tcPr anchor="ctr"/>
                </a:tc>
                <a:tc>
                  <a:txBody>
                    <a:bodyPr/>
                    <a:lstStyle/>
                    <a:p>
                      <a:pPr algn="ctr">
                        <a:buNone/>
                      </a:pPr>
                      <a:r>
                        <a:rPr lang="en-US">
                          <a:solidFill>
                            <a:schemeClr val="tx2">
                              <a:lumMod val="75000"/>
                              <a:lumOff val="25000"/>
                            </a:schemeClr>
                          </a:solidFill>
                          <a:latin typeface="Josefin Sans" pitchFamily="2" charset="0"/>
                        </a:rPr>
                        <a:t>Meaning</a:t>
                      </a:r>
                    </a:p>
                  </a:txBody>
                  <a:tcPr anchor="ctr"/>
                </a:tc>
                <a:extLst>
                  <a:ext uri="{0D108BD9-81ED-4DB2-BD59-A6C34878D82A}">
                    <a16:rowId xmlns:a16="http://schemas.microsoft.com/office/drawing/2014/main" val="3907348894"/>
                  </a:ext>
                </a:extLst>
              </a:tr>
              <a:tr h="0">
                <a:tc>
                  <a:txBody>
                    <a:bodyPr/>
                    <a:lstStyle/>
                    <a:p>
                      <a:pPr algn="ctr">
                        <a:buNone/>
                      </a:pPr>
                      <a:r>
                        <a:rPr lang="en-US" err="1">
                          <a:solidFill>
                            <a:schemeClr val="tx2">
                              <a:lumMod val="75000"/>
                              <a:lumOff val="25000"/>
                            </a:schemeClr>
                          </a:solidFill>
                          <a:latin typeface="Josefin Sans" pitchFamily="2" charset="0"/>
                        </a:rPr>
                        <a:t>Sales_Lag1</a:t>
                      </a:r>
                      <a:endParaRPr lang="en-US">
                        <a:solidFill>
                          <a:schemeClr val="tx2">
                            <a:lumMod val="75000"/>
                            <a:lumOff val="25000"/>
                          </a:schemeClr>
                        </a:solidFill>
                        <a:latin typeface="Josefin Sans" pitchFamily="2" charset="0"/>
                      </a:endParaRPr>
                    </a:p>
                  </a:txBody>
                  <a:tcPr anchor="ctr"/>
                </a:tc>
                <a:tc>
                  <a:txBody>
                    <a:bodyPr/>
                    <a:lstStyle/>
                    <a:p>
                      <a:pPr algn="ctr">
                        <a:buNone/>
                      </a:pPr>
                      <a:r>
                        <a:rPr lang="en-US">
                          <a:solidFill>
                            <a:schemeClr val="tx2">
                              <a:lumMod val="75000"/>
                              <a:lumOff val="25000"/>
                            </a:schemeClr>
                          </a:solidFill>
                          <a:latin typeface="Josefin Sans" pitchFamily="2" charset="0"/>
                        </a:rPr>
                        <a:t>sales </a:t>
                      </a:r>
                      <a:r>
                        <a:rPr lang="en-US" b="1">
                          <a:solidFill>
                            <a:schemeClr val="tx2">
                              <a:lumMod val="75000"/>
                              <a:lumOff val="25000"/>
                            </a:schemeClr>
                          </a:solidFill>
                          <a:latin typeface="Josefin Sans" pitchFamily="2" charset="0"/>
                        </a:rPr>
                        <a:t>last week</a:t>
                      </a:r>
                      <a:endParaRPr lang="en-US">
                        <a:solidFill>
                          <a:schemeClr val="tx2">
                            <a:lumMod val="75000"/>
                            <a:lumOff val="25000"/>
                          </a:schemeClr>
                        </a:solidFill>
                        <a:latin typeface="Josefin Sans" pitchFamily="2" charset="0"/>
                      </a:endParaRPr>
                    </a:p>
                  </a:txBody>
                  <a:tcPr anchor="ctr"/>
                </a:tc>
                <a:extLst>
                  <a:ext uri="{0D108BD9-81ED-4DB2-BD59-A6C34878D82A}">
                    <a16:rowId xmlns:a16="http://schemas.microsoft.com/office/drawing/2014/main" val="245486475"/>
                  </a:ext>
                </a:extLst>
              </a:tr>
              <a:tr h="0">
                <a:tc>
                  <a:txBody>
                    <a:bodyPr/>
                    <a:lstStyle/>
                    <a:p>
                      <a:pPr algn="ctr">
                        <a:buNone/>
                      </a:pPr>
                      <a:r>
                        <a:rPr lang="en-US">
                          <a:solidFill>
                            <a:schemeClr val="tx2">
                              <a:lumMod val="75000"/>
                              <a:lumOff val="25000"/>
                            </a:schemeClr>
                          </a:solidFill>
                          <a:latin typeface="Josefin Sans" pitchFamily="2" charset="0"/>
                        </a:rPr>
                        <a:t>Sales_Lag2</a:t>
                      </a:r>
                    </a:p>
                  </a:txBody>
                  <a:tcPr anchor="ctr"/>
                </a:tc>
                <a:tc>
                  <a:txBody>
                    <a:bodyPr/>
                    <a:lstStyle/>
                    <a:p>
                      <a:pPr algn="ctr">
                        <a:buNone/>
                      </a:pPr>
                      <a:r>
                        <a:rPr lang="en-US">
                          <a:solidFill>
                            <a:schemeClr val="tx2">
                              <a:lumMod val="75000"/>
                              <a:lumOff val="25000"/>
                            </a:schemeClr>
                          </a:solidFill>
                          <a:latin typeface="Josefin Sans" pitchFamily="2" charset="0"/>
                        </a:rPr>
                        <a:t>sales </a:t>
                      </a:r>
                      <a:r>
                        <a:rPr lang="en-US" b="1">
                          <a:solidFill>
                            <a:schemeClr val="tx2">
                              <a:lumMod val="75000"/>
                              <a:lumOff val="25000"/>
                            </a:schemeClr>
                          </a:solidFill>
                          <a:latin typeface="Josefin Sans" pitchFamily="2" charset="0"/>
                        </a:rPr>
                        <a:t>2 weeks ago</a:t>
                      </a:r>
                      <a:endParaRPr lang="en-US">
                        <a:solidFill>
                          <a:schemeClr val="tx2">
                            <a:lumMod val="75000"/>
                            <a:lumOff val="25000"/>
                          </a:schemeClr>
                        </a:solidFill>
                        <a:latin typeface="Josefin Sans" pitchFamily="2" charset="0"/>
                      </a:endParaRPr>
                    </a:p>
                  </a:txBody>
                  <a:tcPr anchor="ctr"/>
                </a:tc>
                <a:extLst>
                  <a:ext uri="{0D108BD9-81ED-4DB2-BD59-A6C34878D82A}">
                    <a16:rowId xmlns:a16="http://schemas.microsoft.com/office/drawing/2014/main" val="654826801"/>
                  </a:ext>
                </a:extLst>
              </a:tr>
              <a:tr h="0">
                <a:tc>
                  <a:txBody>
                    <a:bodyPr/>
                    <a:lstStyle/>
                    <a:p>
                      <a:pPr algn="ctr">
                        <a:buNone/>
                      </a:pPr>
                      <a:r>
                        <a:rPr lang="en-US">
                          <a:solidFill>
                            <a:schemeClr val="tx2">
                              <a:lumMod val="75000"/>
                              <a:lumOff val="25000"/>
                            </a:schemeClr>
                          </a:solidFill>
                          <a:latin typeface="Josefin Sans" pitchFamily="2" charset="0"/>
                        </a:rPr>
                        <a:t>Sales_Lag4</a:t>
                      </a:r>
                    </a:p>
                  </a:txBody>
                  <a:tcPr anchor="ctr"/>
                </a:tc>
                <a:tc>
                  <a:txBody>
                    <a:bodyPr/>
                    <a:lstStyle/>
                    <a:p>
                      <a:pPr algn="ctr">
                        <a:buNone/>
                      </a:pPr>
                      <a:r>
                        <a:rPr lang="en-US">
                          <a:solidFill>
                            <a:schemeClr val="tx2">
                              <a:lumMod val="75000"/>
                              <a:lumOff val="25000"/>
                            </a:schemeClr>
                          </a:solidFill>
                          <a:latin typeface="Josefin Sans" pitchFamily="2" charset="0"/>
                        </a:rPr>
                        <a:t>sales </a:t>
                      </a:r>
                      <a:r>
                        <a:rPr lang="en-US" b="1">
                          <a:solidFill>
                            <a:schemeClr val="tx2">
                              <a:lumMod val="75000"/>
                              <a:lumOff val="25000"/>
                            </a:schemeClr>
                          </a:solidFill>
                          <a:latin typeface="Josefin Sans" pitchFamily="2" charset="0"/>
                        </a:rPr>
                        <a:t>4 weeks ago</a:t>
                      </a:r>
                      <a:endParaRPr lang="en-US">
                        <a:solidFill>
                          <a:schemeClr val="tx2">
                            <a:lumMod val="75000"/>
                            <a:lumOff val="25000"/>
                          </a:schemeClr>
                        </a:solidFill>
                        <a:latin typeface="Josefin Sans" pitchFamily="2" charset="0"/>
                      </a:endParaRPr>
                    </a:p>
                  </a:txBody>
                  <a:tcPr anchor="ctr"/>
                </a:tc>
                <a:extLst>
                  <a:ext uri="{0D108BD9-81ED-4DB2-BD59-A6C34878D82A}">
                    <a16:rowId xmlns:a16="http://schemas.microsoft.com/office/drawing/2014/main" val="1485577882"/>
                  </a:ext>
                </a:extLst>
              </a:tr>
            </a:tbl>
          </a:graphicData>
        </a:graphic>
      </p:graphicFrame>
      <p:sp>
        <p:nvSpPr>
          <p:cNvPr id="9" name="TextBox 8">
            <a:extLst>
              <a:ext uri="{FF2B5EF4-FFF2-40B4-BE49-F238E27FC236}">
                <a16:creationId xmlns:a16="http://schemas.microsoft.com/office/drawing/2014/main" id="{1684800F-F7F8-A69C-D8B1-DEB31F2AA124}"/>
              </a:ext>
            </a:extLst>
          </p:cNvPr>
          <p:cNvSpPr txBox="1"/>
          <p:nvPr/>
        </p:nvSpPr>
        <p:spPr>
          <a:xfrm>
            <a:off x="3217894" y="4062174"/>
            <a:ext cx="5467739" cy="369332"/>
          </a:xfrm>
          <a:prstGeom prst="rect">
            <a:avLst/>
          </a:prstGeom>
          <a:noFill/>
        </p:spPr>
        <p:txBody>
          <a:bodyPr wrap="square">
            <a:spAutoFit/>
          </a:bodyPr>
          <a:lstStyle/>
          <a:p>
            <a:pPr algn="ctr"/>
            <a:r>
              <a:rPr lang="en-US">
                <a:latin typeface="Josefin Sans" pitchFamily="2" charset="0"/>
              </a:rPr>
              <a:t>Rolling = average over several weeks</a:t>
            </a:r>
          </a:p>
        </p:txBody>
      </p:sp>
      <p:graphicFrame>
        <p:nvGraphicFramePr>
          <p:cNvPr id="11" name="Table 10">
            <a:extLst>
              <a:ext uri="{FF2B5EF4-FFF2-40B4-BE49-F238E27FC236}">
                <a16:creationId xmlns:a16="http://schemas.microsoft.com/office/drawing/2014/main" id="{E7401B24-F38F-90AF-7407-B5B52DA33538}"/>
              </a:ext>
            </a:extLst>
          </p:cNvPr>
          <p:cNvGraphicFramePr>
            <a:graphicFrameLocks noGrp="1"/>
          </p:cNvGraphicFramePr>
          <p:nvPr>
            <p:extLst>
              <p:ext uri="{D42A27DB-BD31-4B8C-83A1-F6EECF244321}">
                <p14:modId xmlns:p14="http://schemas.microsoft.com/office/powerpoint/2010/main" val="497223319"/>
              </p:ext>
            </p:extLst>
          </p:nvPr>
        </p:nvGraphicFramePr>
        <p:xfrm>
          <a:off x="1858541" y="4603383"/>
          <a:ext cx="8186446" cy="1828800"/>
        </p:xfrm>
        <a:graphic>
          <a:graphicData uri="http://schemas.openxmlformats.org/drawingml/2006/table">
            <a:tbl>
              <a:tblPr>
                <a:tableStyleId>{BC89EF96-8CEA-46FF-86C4-4CE0E7609802}</a:tableStyleId>
              </a:tblPr>
              <a:tblGrid>
                <a:gridCol w="4093223">
                  <a:extLst>
                    <a:ext uri="{9D8B030D-6E8A-4147-A177-3AD203B41FA5}">
                      <a16:colId xmlns:a16="http://schemas.microsoft.com/office/drawing/2014/main" val="2594321184"/>
                    </a:ext>
                  </a:extLst>
                </a:gridCol>
                <a:gridCol w="4093223">
                  <a:extLst>
                    <a:ext uri="{9D8B030D-6E8A-4147-A177-3AD203B41FA5}">
                      <a16:colId xmlns:a16="http://schemas.microsoft.com/office/drawing/2014/main" val="3297723587"/>
                    </a:ext>
                  </a:extLst>
                </a:gridCol>
              </a:tblGrid>
              <a:tr h="0">
                <a:tc>
                  <a:txBody>
                    <a:bodyPr/>
                    <a:lstStyle/>
                    <a:p>
                      <a:pPr algn="ctr">
                        <a:buNone/>
                      </a:pPr>
                      <a:r>
                        <a:rPr lang="en-US">
                          <a:solidFill>
                            <a:schemeClr val="tx2">
                              <a:lumMod val="75000"/>
                              <a:lumOff val="25000"/>
                            </a:schemeClr>
                          </a:solidFill>
                          <a:latin typeface="Josefin Sans" pitchFamily="2" charset="0"/>
                        </a:rPr>
                        <a:t>Feature</a:t>
                      </a:r>
                    </a:p>
                  </a:txBody>
                  <a:tcPr anchor="ctr"/>
                </a:tc>
                <a:tc>
                  <a:txBody>
                    <a:bodyPr/>
                    <a:lstStyle/>
                    <a:p>
                      <a:pPr algn="ctr">
                        <a:buNone/>
                      </a:pPr>
                      <a:r>
                        <a:rPr lang="en-US">
                          <a:solidFill>
                            <a:schemeClr val="tx2">
                              <a:lumMod val="75000"/>
                              <a:lumOff val="25000"/>
                            </a:schemeClr>
                          </a:solidFill>
                          <a:latin typeface="Josefin Sans" pitchFamily="2" charset="0"/>
                        </a:rPr>
                        <a:t>Meaning</a:t>
                      </a:r>
                    </a:p>
                  </a:txBody>
                  <a:tcPr anchor="ctr"/>
                </a:tc>
                <a:extLst>
                  <a:ext uri="{0D108BD9-81ED-4DB2-BD59-A6C34878D82A}">
                    <a16:rowId xmlns:a16="http://schemas.microsoft.com/office/drawing/2014/main" val="2214526198"/>
                  </a:ext>
                </a:extLst>
              </a:tr>
              <a:tr h="0">
                <a:tc>
                  <a:txBody>
                    <a:bodyPr/>
                    <a:lstStyle/>
                    <a:p>
                      <a:pPr algn="ctr">
                        <a:buNone/>
                      </a:pPr>
                      <a:r>
                        <a:rPr lang="en-US" err="1">
                          <a:solidFill>
                            <a:schemeClr val="tx2">
                              <a:lumMod val="75000"/>
                              <a:lumOff val="25000"/>
                            </a:schemeClr>
                          </a:solidFill>
                          <a:latin typeface="Josefin Sans" pitchFamily="2" charset="0"/>
                        </a:rPr>
                        <a:t>Sales_Rolling_Mean_4</a:t>
                      </a:r>
                      <a:endParaRPr lang="en-US">
                        <a:solidFill>
                          <a:schemeClr val="tx2">
                            <a:lumMod val="75000"/>
                            <a:lumOff val="25000"/>
                          </a:schemeClr>
                        </a:solidFill>
                        <a:latin typeface="Josefin Sans" pitchFamily="2" charset="0"/>
                      </a:endParaRPr>
                    </a:p>
                  </a:txBody>
                  <a:tcPr anchor="ctr"/>
                </a:tc>
                <a:tc>
                  <a:txBody>
                    <a:bodyPr/>
                    <a:lstStyle/>
                    <a:p>
                      <a:pPr algn="ctr">
                        <a:buNone/>
                      </a:pPr>
                      <a:r>
                        <a:rPr lang="en-US">
                          <a:solidFill>
                            <a:schemeClr val="tx2">
                              <a:lumMod val="75000"/>
                              <a:lumOff val="25000"/>
                            </a:schemeClr>
                          </a:solidFill>
                          <a:latin typeface="Josefin Sans" pitchFamily="2" charset="0"/>
                        </a:rPr>
                        <a:t>average sales of </a:t>
                      </a:r>
                      <a:r>
                        <a:rPr lang="en-US" b="1">
                          <a:solidFill>
                            <a:schemeClr val="tx2">
                              <a:lumMod val="75000"/>
                              <a:lumOff val="25000"/>
                            </a:schemeClr>
                          </a:solidFill>
                          <a:latin typeface="Josefin Sans" pitchFamily="2" charset="0"/>
                        </a:rPr>
                        <a:t>last 4 weeks</a:t>
                      </a:r>
                      <a:endParaRPr lang="en-US">
                        <a:solidFill>
                          <a:schemeClr val="tx2">
                            <a:lumMod val="75000"/>
                            <a:lumOff val="25000"/>
                          </a:schemeClr>
                        </a:solidFill>
                        <a:latin typeface="Josefin Sans" pitchFamily="2" charset="0"/>
                      </a:endParaRPr>
                    </a:p>
                  </a:txBody>
                  <a:tcPr anchor="ctr"/>
                </a:tc>
                <a:extLst>
                  <a:ext uri="{0D108BD9-81ED-4DB2-BD59-A6C34878D82A}">
                    <a16:rowId xmlns:a16="http://schemas.microsoft.com/office/drawing/2014/main" val="159554980"/>
                  </a:ext>
                </a:extLst>
              </a:tr>
              <a:tr h="0">
                <a:tc>
                  <a:txBody>
                    <a:bodyPr/>
                    <a:lstStyle/>
                    <a:p>
                      <a:pPr algn="ctr">
                        <a:buNone/>
                      </a:pPr>
                      <a:r>
                        <a:rPr lang="en-US" err="1">
                          <a:solidFill>
                            <a:schemeClr val="tx2">
                              <a:lumMod val="75000"/>
                              <a:lumOff val="25000"/>
                            </a:schemeClr>
                          </a:solidFill>
                          <a:latin typeface="Josefin Sans" pitchFamily="2" charset="0"/>
                        </a:rPr>
                        <a:t>Sales_Rolling_Mean_8</a:t>
                      </a:r>
                      <a:endParaRPr lang="en-US">
                        <a:solidFill>
                          <a:schemeClr val="tx2">
                            <a:lumMod val="75000"/>
                            <a:lumOff val="25000"/>
                          </a:schemeClr>
                        </a:solidFill>
                        <a:latin typeface="Josefin Sans" pitchFamily="2" charset="0"/>
                      </a:endParaRPr>
                    </a:p>
                  </a:txBody>
                  <a:tcPr anchor="ctr"/>
                </a:tc>
                <a:tc>
                  <a:txBody>
                    <a:bodyPr/>
                    <a:lstStyle/>
                    <a:p>
                      <a:pPr algn="ctr">
                        <a:buNone/>
                      </a:pPr>
                      <a:r>
                        <a:rPr lang="en-US">
                          <a:solidFill>
                            <a:schemeClr val="tx2">
                              <a:lumMod val="75000"/>
                              <a:lumOff val="25000"/>
                            </a:schemeClr>
                          </a:solidFill>
                          <a:latin typeface="Josefin Sans" pitchFamily="2" charset="0"/>
                        </a:rPr>
                        <a:t>average sales of </a:t>
                      </a:r>
                      <a:r>
                        <a:rPr lang="en-US" b="1">
                          <a:solidFill>
                            <a:schemeClr val="tx2">
                              <a:lumMod val="75000"/>
                              <a:lumOff val="25000"/>
                            </a:schemeClr>
                          </a:solidFill>
                          <a:latin typeface="Josefin Sans" pitchFamily="2" charset="0"/>
                        </a:rPr>
                        <a:t>last 8 weeks</a:t>
                      </a:r>
                      <a:endParaRPr lang="en-US">
                        <a:solidFill>
                          <a:schemeClr val="tx2">
                            <a:lumMod val="75000"/>
                            <a:lumOff val="25000"/>
                          </a:schemeClr>
                        </a:solidFill>
                        <a:latin typeface="Josefin Sans" pitchFamily="2" charset="0"/>
                      </a:endParaRPr>
                    </a:p>
                  </a:txBody>
                  <a:tcPr anchor="ctr"/>
                </a:tc>
                <a:extLst>
                  <a:ext uri="{0D108BD9-81ED-4DB2-BD59-A6C34878D82A}">
                    <a16:rowId xmlns:a16="http://schemas.microsoft.com/office/drawing/2014/main" val="2394849830"/>
                  </a:ext>
                </a:extLst>
              </a:tr>
              <a:tr h="0">
                <a:tc>
                  <a:txBody>
                    <a:bodyPr/>
                    <a:lstStyle/>
                    <a:p>
                      <a:pPr algn="ctr">
                        <a:buNone/>
                      </a:pPr>
                      <a:r>
                        <a:rPr lang="en-US">
                          <a:solidFill>
                            <a:schemeClr val="tx2">
                              <a:lumMod val="75000"/>
                              <a:lumOff val="25000"/>
                            </a:schemeClr>
                          </a:solidFill>
                          <a:latin typeface="Josefin Sans" pitchFamily="2" charset="0"/>
                        </a:rPr>
                        <a:t>Sales_Rolling_Std_4</a:t>
                      </a:r>
                    </a:p>
                  </a:txBody>
                  <a:tcPr anchor="ctr"/>
                </a:tc>
                <a:tc>
                  <a:txBody>
                    <a:bodyPr/>
                    <a:lstStyle/>
                    <a:p>
                      <a:pPr algn="ctr">
                        <a:buNone/>
                      </a:pPr>
                      <a:r>
                        <a:rPr lang="en-US">
                          <a:solidFill>
                            <a:schemeClr val="tx2">
                              <a:lumMod val="75000"/>
                              <a:lumOff val="25000"/>
                            </a:schemeClr>
                          </a:solidFill>
                          <a:latin typeface="Josefin Sans" pitchFamily="2" charset="0"/>
                        </a:rPr>
                        <a:t>how much sales </a:t>
                      </a:r>
                      <a:r>
                        <a:rPr lang="en-US" b="1">
                          <a:solidFill>
                            <a:schemeClr val="tx2">
                              <a:lumMod val="75000"/>
                              <a:lumOff val="25000"/>
                            </a:schemeClr>
                          </a:solidFill>
                          <a:latin typeface="Josefin Sans" pitchFamily="2" charset="0"/>
                        </a:rPr>
                        <a:t>vary</a:t>
                      </a:r>
                      <a:r>
                        <a:rPr lang="en-US">
                          <a:solidFill>
                            <a:schemeClr val="tx2">
                              <a:lumMod val="75000"/>
                              <a:lumOff val="25000"/>
                            </a:schemeClr>
                          </a:solidFill>
                          <a:latin typeface="Josefin Sans" pitchFamily="2" charset="0"/>
                        </a:rPr>
                        <a:t> in last 4 weeks</a:t>
                      </a:r>
                    </a:p>
                  </a:txBody>
                  <a:tcPr anchor="ctr"/>
                </a:tc>
                <a:extLst>
                  <a:ext uri="{0D108BD9-81ED-4DB2-BD59-A6C34878D82A}">
                    <a16:rowId xmlns:a16="http://schemas.microsoft.com/office/drawing/2014/main" val="3892038646"/>
                  </a:ext>
                </a:extLst>
              </a:tr>
              <a:tr h="0">
                <a:tc>
                  <a:txBody>
                    <a:bodyPr/>
                    <a:lstStyle/>
                    <a:p>
                      <a:pPr algn="ctr">
                        <a:buNone/>
                      </a:pPr>
                      <a:r>
                        <a:rPr lang="en-US">
                          <a:solidFill>
                            <a:schemeClr val="tx2">
                              <a:lumMod val="75000"/>
                              <a:lumOff val="25000"/>
                            </a:schemeClr>
                          </a:solidFill>
                          <a:latin typeface="Josefin Sans" pitchFamily="2" charset="0"/>
                        </a:rPr>
                        <a:t>Sales_Momentum</a:t>
                      </a:r>
                    </a:p>
                  </a:txBody>
                  <a:tcPr anchor="ctr"/>
                </a:tc>
                <a:tc>
                  <a:txBody>
                    <a:bodyPr/>
                    <a:lstStyle/>
                    <a:p>
                      <a:pPr algn="ctr">
                        <a:buNone/>
                      </a:pPr>
                      <a:r>
                        <a:rPr lang="en-US">
                          <a:solidFill>
                            <a:schemeClr val="tx2">
                              <a:lumMod val="75000"/>
                              <a:lumOff val="25000"/>
                            </a:schemeClr>
                          </a:solidFill>
                          <a:latin typeface="Josefin Sans" pitchFamily="2" charset="0"/>
                        </a:rPr>
                        <a:t>is sales </a:t>
                      </a:r>
                      <a:r>
                        <a:rPr lang="en-US" b="1">
                          <a:solidFill>
                            <a:schemeClr val="tx2">
                              <a:lumMod val="75000"/>
                              <a:lumOff val="25000"/>
                            </a:schemeClr>
                          </a:solidFill>
                          <a:latin typeface="Josefin Sans" pitchFamily="2" charset="0"/>
                        </a:rPr>
                        <a:t>going up or down</a:t>
                      </a:r>
                      <a:endParaRPr lang="en-US">
                        <a:solidFill>
                          <a:schemeClr val="tx2">
                            <a:lumMod val="75000"/>
                            <a:lumOff val="25000"/>
                          </a:schemeClr>
                        </a:solidFill>
                        <a:latin typeface="Josefin Sans" pitchFamily="2" charset="0"/>
                      </a:endParaRPr>
                    </a:p>
                  </a:txBody>
                  <a:tcPr anchor="ctr"/>
                </a:tc>
                <a:extLst>
                  <a:ext uri="{0D108BD9-81ED-4DB2-BD59-A6C34878D82A}">
                    <a16:rowId xmlns:a16="http://schemas.microsoft.com/office/drawing/2014/main" val="12203602"/>
                  </a:ext>
                </a:extLst>
              </a:tr>
            </a:tbl>
          </a:graphicData>
        </a:graphic>
      </p:graphicFrame>
    </p:spTree>
    <p:extLst>
      <p:ext uri="{BB962C8B-B14F-4D97-AF65-F5344CB8AC3E}">
        <p14:creationId xmlns:p14="http://schemas.microsoft.com/office/powerpoint/2010/main" val="1699425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B6184-86F2-2B11-78AA-F8C78F7F8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C15F9-5E22-A643-EBB7-4349442508A4}"/>
              </a:ext>
            </a:extLst>
          </p:cNvPr>
          <p:cNvSpPr>
            <a:spLocks noGrp="1"/>
          </p:cNvSpPr>
          <p:nvPr>
            <p:ph type="title"/>
          </p:nvPr>
        </p:nvSpPr>
        <p:spPr/>
        <p:txBody>
          <a:bodyPr/>
          <a:lstStyle/>
          <a:p>
            <a:r>
              <a:rPr lang="en-US">
                <a:latin typeface="Josefin Sans" pitchFamily="2" charset="0"/>
              </a:rPr>
              <a:t>Categorical Encoding (Step 1.3.3)</a:t>
            </a:r>
          </a:p>
        </p:txBody>
      </p:sp>
      <p:sp>
        <p:nvSpPr>
          <p:cNvPr id="6" name="TextBox 5">
            <a:extLst>
              <a:ext uri="{FF2B5EF4-FFF2-40B4-BE49-F238E27FC236}">
                <a16:creationId xmlns:a16="http://schemas.microsoft.com/office/drawing/2014/main" id="{65B43EE2-5593-F992-EE6C-D3DDB59F399D}"/>
              </a:ext>
            </a:extLst>
          </p:cNvPr>
          <p:cNvSpPr txBox="1"/>
          <p:nvPr/>
        </p:nvSpPr>
        <p:spPr>
          <a:xfrm>
            <a:off x="579120" y="1674674"/>
            <a:ext cx="10922000" cy="1200329"/>
          </a:xfrm>
          <a:prstGeom prst="rect">
            <a:avLst/>
          </a:prstGeom>
          <a:noFill/>
        </p:spPr>
        <p:txBody>
          <a:bodyPr wrap="square">
            <a:spAutoFit/>
          </a:bodyPr>
          <a:lstStyle/>
          <a:p>
            <a:r>
              <a:rPr lang="en-US">
                <a:latin typeface="Josefin Sans" pitchFamily="2" charset="0"/>
              </a:rPr>
              <a:t>Actually , this part was in the row data, but it was represented using True/False </a:t>
            </a:r>
          </a:p>
          <a:p>
            <a:endParaRPr lang="en-US">
              <a:latin typeface="Josefin Sans" pitchFamily="2" charset="0"/>
            </a:endParaRPr>
          </a:p>
          <a:p>
            <a:r>
              <a:rPr lang="en-US">
                <a:latin typeface="Josefin Sans" pitchFamily="2" charset="0"/>
              </a:rPr>
              <a:t>Store types were transformed using one-hot encoding.</a:t>
            </a:r>
            <a:br>
              <a:rPr lang="en-US">
                <a:latin typeface="Josefin Sans" pitchFamily="2" charset="0"/>
              </a:rPr>
            </a:br>
            <a:r>
              <a:rPr lang="en-US">
                <a:latin typeface="Josefin Sans" pitchFamily="2" charset="0"/>
              </a:rPr>
              <a:t>This allows the model to learn differences between small, medium, and large stores.</a:t>
            </a:r>
          </a:p>
        </p:txBody>
      </p:sp>
      <p:pic>
        <p:nvPicPr>
          <p:cNvPr id="8" name="Picture 7" descr="A table with black text&#10;&#10;AI-generated content may be incorrect.">
            <a:extLst>
              <a:ext uri="{FF2B5EF4-FFF2-40B4-BE49-F238E27FC236}">
                <a16:creationId xmlns:a16="http://schemas.microsoft.com/office/drawing/2014/main" id="{5E70EC3D-0895-4707-9973-8E9F0D575E6A}"/>
              </a:ext>
            </a:extLst>
          </p:cNvPr>
          <p:cNvPicPr>
            <a:picLocks noChangeAspect="1"/>
          </p:cNvPicPr>
          <p:nvPr/>
        </p:nvPicPr>
        <p:blipFill>
          <a:blip r:embed="rId2"/>
          <a:stretch>
            <a:fillRect/>
          </a:stretch>
        </p:blipFill>
        <p:spPr>
          <a:xfrm>
            <a:off x="7021748" y="3429000"/>
            <a:ext cx="2951640" cy="2705669"/>
          </a:xfrm>
          <a:prstGeom prst="rect">
            <a:avLst/>
          </a:prstGeom>
        </p:spPr>
      </p:pic>
      <p:pic>
        <p:nvPicPr>
          <p:cNvPr id="4" name="Picture 3" descr="A screenshot of a phone&#10;&#10;AI-generated content may be incorrect.">
            <a:extLst>
              <a:ext uri="{FF2B5EF4-FFF2-40B4-BE49-F238E27FC236}">
                <a16:creationId xmlns:a16="http://schemas.microsoft.com/office/drawing/2014/main" id="{E1A964EA-31D1-2FDD-BABB-E4524B9D42F8}"/>
              </a:ext>
            </a:extLst>
          </p:cNvPr>
          <p:cNvPicPr>
            <a:picLocks noChangeAspect="1"/>
          </p:cNvPicPr>
          <p:nvPr/>
        </p:nvPicPr>
        <p:blipFill>
          <a:blip r:embed="rId3"/>
          <a:stretch>
            <a:fillRect/>
          </a:stretch>
        </p:blipFill>
        <p:spPr>
          <a:xfrm>
            <a:off x="2743832" y="3362507"/>
            <a:ext cx="695422" cy="2772162"/>
          </a:xfrm>
          <a:prstGeom prst="rect">
            <a:avLst/>
          </a:prstGeom>
        </p:spPr>
      </p:pic>
      <p:cxnSp>
        <p:nvCxnSpPr>
          <p:cNvPr id="7" name="Straight Arrow Connector 6">
            <a:extLst>
              <a:ext uri="{FF2B5EF4-FFF2-40B4-BE49-F238E27FC236}">
                <a16:creationId xmlns:a16="http://schemas.microsoft.com/office/drawing/2014/main" id="{7338A4A7-BB6B-C210-17E8-6D05D8C4A2E7}"/>
              </a:ext>
            </a:extLst>
          </p:cNvPr>
          <p:cNvCxnSpPr/>
          <p:nvPr/>
        </p:nvCxnSpPr>
        <p:spPr>
          <a:xfrm>
            <a:off x="3573624" y="4637314"/>
            <a:ext cx="33683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1416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C4F7-8067-6594-4F45-ED9D75FA34A0}"/>
              </a:ext>
            </a:extLst>
          </p:cNvPr>
          <p:cNvSpPr>
            <a:spLocks noGrp="1"/>
          </p:cNvSpPr>
          <p:nvPr>
            <p:ph type="title"/>
          </p:nvPr>
        </p:nvSpPr>
        <p:spPr/>
        <p:txBody>
          <a:bodyPr/>
          <a:lstStyle/>
          <a:p>
            <a:r>
              <a:rPr lang="en-US">
                <a:latin typeface="Josefin Sans" pitchFamily="2" charset="0"/>
              </a:rPr>
              <a:t>Feature Normalization (Step 1.3.4)</a:t>
            </a:r>
          </a:p>
        </p:txBody>
      </p:sp>
      <p:sp>
        <p:nvSpPr>
          <p:cNvPr id="4" name="TextBox 3">
            <a:extLst>
              <a:ext uri="{FF2B5EF4-FFF2-40B4-BE49-F238E27FC236}">
                <a16:creationId xmlns:a16="http://schemas.microsoft.com/office/drawing/2014/main" id="{840EF680-8DA5-0FAD-6417-C9010FDFEEA6}"/>
              </a:ext>
            </a:extLst>
          </p:cNvPr>
          <p:cNvSpPr txBox="1"/>
          <p:nvPr/>
        </p:nvSpPr>
        <p:spPr>
          <a:xfrm>
            <a:off x="838200" y="1412240"/>
            <a:ext cx="10226040" cy="1631216"/>
          </a:xfrm>
          <a:prstGeom prst="rect">
            <a:avLst/>
          </a:prstGeom>
          <a:noFill/>
        </p:spPr>
        <p:txBody>
          <a:bodyPr wrap="square" lIns="91440" tIns="45720" rIns="91440" bIns="45720" rtlCol="0" anchor="t">
            <a:spAutoFit/>
          </a:bodyPr>
          <a:lstStyle/>
          <a:p>
            <a:r>
              <a:rPr lang="en-US" sz="2000">
                <a:latin typeface="Josefin Sans" pitchFamily="2" charset="0"/>
              </a:rPr>
              <a:t>We standardized 17 numeric features using z-score normalization.</a:t>
            </a:r>
            <a:br>
              <a:rPr lang="en-US" sz="2000">
                <a:latin typeface="Josefin Sans" pitchFamily="2" charset="0"/>
              </a:rPr>
            </a:br>
            <a:r>
              <a:rPr lang="en-US" sz="2000">
                <a:latin typeface="Josefin Sans" pitchFamily="2" charset="0"/>
              </a:rPr>
              <a:t>To avoid data leakage, we saved normalization parameters separately for consistent use during inference.</a:t>
            </a:r>
          </a:p>
          <a:p>
            <a:r>
              <a:rPr lang="en-US" sz="2000">
                <a:latin typeface="Josefin Sans"/>
              </a:rPr>
              <a:t>Why: to not make the model think one value is more important</a:t>
            </a:r>
          </a:p>
          <a:p>
            <a:r>
              <a:rPr lang="en-US" sz="2000">
                <a:latin typeface="Josefin Sans"/>
              </a:rPr>
              <a:t>than another.</a:t>
            </a:r>
            <a:endParaRPr lang="en-US" sz="2000">
              <a:latin typeface="Josefin Sans" pitchFamily="2" charset="0"/>
            </a:endParaRPr>
          </a:p>
        </p:txBody>
      </p:sp>
      <p:pic>
        <p:nvPicPr>
          <p:cNvPr id="6" name="Picture 5" descr="A screenshot of a computer program&#10;&#10;AI-generated content may be incorrect.">
            <a:extLst>
              <a:ext uri="{FF2B5EF4-FFF2-40B4-BE49-F238E27FC236}">
                <a16:creationId xmlns:a16="http://schemas.microsoft.com/office/drawing/2014/main" id="{B9BB88B0-4F22-4B2F-3D67-19D29ACBA0D0}"/>
              </a:ext>
            </a:extLst>
          </p:cNvPr>
          <p:cNvPicPr>
            <a:picLocks noChangeAspect="1"/>
          </p:cNvPicPr>
          <p:nvPr/>
        </p:nvPicPr>
        <p:blipFill>
          <a:blip r:embed="rId2"/>
          <a:stretch>
            <a:fillRect/>
          </a:stretch>
        </p:blipFill>
        <p:spPr>
          <a:xfrm>
            <a:off x="8573750" y="2365401"/>
            <a:ext cx="3506282" cy="4127474"/>
          </a:xfrm>
          <a:prstGeom prst="rect">
            <a:avLst/>
          </a:prstGeom>
        </p:spPr>
      </p:pic>
      <p:graphicFrame>
        <p:nvGraphicFramePr>
          <p:cNvPr id="3" name="Table 2">
            <a:extLst>
              <a:ext uri="{FF2B5EF4-FFF2-40B4-BE49-F238E27FC236}">
                <a16:creationId xmlns:a16="http://schemas.microsoft.com/office/drawing/2014/main" id="{9087CE77-53C2-6400-B87F-A8D1CDC4C6BD}"/>
              </a:ext>
            </a:extLst>
          </p:cNvPr>
          <p:cNvGraphicFramePr>
            <a:graphicFrameLocks noGrp="1"/>
          </p:cNvGraphicFramePr>
          <p:nvPr>
            <p:extLst>
              <p:ext uri="{D42A27DB-BD31-4B8C-83A1-F6EECF244321}">
                <p14:modId xmlns:p14="http://schemas.microsoft.com/office/powerpoint/2010/main" val="3307403121"/>
              </p:ext>
            </p:extLst>
          </p:nvPr>
        </p:nvGraphicFramePr>
        <p:xfrm>
          <a:off x="2796789" y="3049245"/>
          <a:ext cx="5462115" cy="2103120"/>
        </p:xfrm>
        <a:graphic>
          <a:graphicData uri="http://schemas.openxmlformats.org/drawingml/2006/table">
            <a:tbl>
              <a:tblPr>
                <a:tableStyleId>{BC89EF96-8CEA-46FF-86C4-4CE0E7609802}</a:tableStyleId>
              </a:tblPr>
              <a:tblGrid>
                <a:gridCol w="1820705">
                  <a:extLst>
                    <a:ext uri="{9D8B030D-6E8A-4147-A177-3AD203B41FA5}">
                      <a16:colId xmlns:a16="http://schemas.microsoft.com/office/drawing/2014/main" val="3622674633"/>
                    </a:ext>
                  </a:extLst>
                </a:gridCol>
                <a:gridCol w="1820705">
                  <a:extLst>
                    <a:ext uri="{9D8B030D-6E8A-4147-A177-3AD203B41FA5}">
                      <a16:colId xmlns:a16="http://schemas.microsoft.com/office/drawing/2014/main" val="4119499810"/>
                    </a:ext>
                  </a:extLst>
                </a:gridCol>
                <a:gridCol w="1820705">
                  <a:extLst>
                    <a:ext uri="{9D8B030D-6E8A-4147-A177-3AD203B41FA5}">
                      <a16:colId xmlns:a16="http://schemas.microsoft.com/office/drawing/2014/main" val="2693459904"/>
                    </a:ext>
                  </a:extLst>
                </a:gridCol>
              </a:tblGrid>
              <a:tr h="0">
                <a:tc>
                  <a:txBody>
                    <a:bodyPr/>
                    <a:lstStyle/>
                    <a:p>
                      <a:pPr>
                        <a:buNone/>
                      </a:pPr>
                      <a:r>
                        <a:rPr lang="en-US">
                          <a:solidFill>
                            <a:schemeClr val="tx2">
                              <a:lumMod val="75000"/>
                              <a:lumOff val="25000"/>
                            </a:schemeClr>
                          </a:solidFill>
                          <a:latin typeface="Josefin Sans" pitchFamily="2" charset="0"/>
                        </a:rPr>
                        <a:t>Feature</a:t>
                      </a:r>
                    </a:p>
                  </a:txBody>
                  <a:tcPr anchor="ctr"/>
                </a:tc>
                <a:tc>
                  <a:txBody>
                    <a:bodyPr/>
                    <a:lstStyle/>
                    <a:p>
                      <a:pPr>
                        <a:buNone/>
                      </a:pPr>
                      <a:r>
                        <a:rPr lang="en-US">
                          <a:solidFill>
                            <a:schemeClr val="tx2">
                              <a:lumMod val="75000"/>
                              <a:lumOff val="25000"/>
                            </a:schemeClr>
                          </a:solidFill>
                          <a:latin typeface="Josefin Sans" pitchFamily="2" charset="0"/>
                        </a:rPr>
                        <a:t>Original Value</a:t>
                      </a:r>
                    </a:p>
                  </a:txBody>
                  <a:tcPr anchor="ctr"/>
                </a:tc>
                <a:tc>
                  <a:txBody>
                    <a:bodyPr/>
                    <a:lstStyle/>
                    <a:p>
                      <a:pPr>
                        <a:buNone/>
                      </a:pPr>
                      <a:r>
                        <a:rPr lang="en-US">
                          <a:solidFill>
                            <a:schemeClr val="tx2">
                              <a:lumMod val="75000"/>
                              <a:lumOff val="25000"/>
                            </a:schemeClr>
                          </a:solidFill>
                          <a:latin typeface="Josefin Sans" pitchFamily="2" charset="0"/>
                        </a:rPr>
                        <a:t>After Normalization</a:t>
                      </a:r>
                    </a:p>
                  </a:txBody>
                  <a:tcPr anchor="ctr"/>
                </a:tc>
                <a:extLst>
                  <a:ext uri="{0D108BD9-81ED-4DB2-BD59-A6C34878D82A}">
                    <a16:rowId xmlns:a16="http://schemas.microsoft.com/office/drawing/2014/main" val="2638861964"/>
                  </a:ext>
                </a:extLst>
              </a:tr>
              <a:tr h="0">
                <a:tc>
                  <a:txBody>
                    <a:bodyPr/>
                    <a:lstStyle/>
                    <a:p>
                      <a:pPr>
                        <a:buNone/>
                      </a:pPr>
                      <a:r>
                        <a:rPr lang="en-US" err="1">
                          <a:solidFill>
                            <a:schemeClr val="tx2">
                              <a:lumMod val="75000"/>
                              <a:lumOff val="25000"/>
                            </a:schemeClr>
                          </a:solidFill>
                          <a:latin typeface="Josefin Sans" pitchFamily="2" charset="0"/>
                        </a:rPr>
                        <a:t>Weekly_Sales</a:t>
                      </a:r>
                      <a:endParaRPr lang="en-US">
                        <a:solidFill>
                          <a:schemeClr val="tx2">
                            <a:lumMod val="75000"/>
                            <a:lumOff val="25000"/>
                          </a:schemeClr>
                        </a:solidFill>
                        <a:latin typeface="Josefin Sans" pitchFamily="2" charset="0"/>
                      </a:endParaRPr>
                    </a:p>
                  </a:txBody>
                  <a:tcPr anchor="ctr"/>
                </a:tc>
                <a:tc>
                  <a:txBody>
                    <a:bodyPr/>
                    <a:lstStyle/>
                    <a:p>
                      <a:pPr>
                        <a:buNone/>
                      </a:pPr>
                      <a:r>
                        <a:rPr lang="en-US">
                          <a:solidFill>
                            <a:schemeClr val="tx2">
                              <a:lumMod val="75000"/>
                              <a:lumOff val="25000"/>
                            </a:schemeClr>
                          </a:solidFill>
                          <a:latin typeface="Josefin Sans" pitchFamily="2" charset="0"/>
                        </a:rPr>
                        <a:t>24,924</a:t>
                      </a:r>
                    </a:p>
                  </a:txBody>
                  <a:tcPr anchor="ctr"/>
                </a:tc>
                <a:tc>
                  <a:txBody>
                    <a:bodyPr/>
                    <a:lstStyle/>
                    <a:p>
                      <a:pPr>
                        <a:buNone/>
                      </a:pPr>
                      <a:r>
                        <a:rPr lang="en-US">
                          <a:solidFill>
                            <a:schemeClr val="tx2">
                              <a:lumMod val="75000"/>
                              <a:lumOff val="25000"/>
                            </a:schemeClr>
                          </a:solidFill>
                          <a:latin typeface="Josefin Sans" pitchFamily="2" charset="0"/>
                        </a:rPr>
                        <a:t>-0.70</a:t>
                      </a:r>
                    </a:p>
                  </a:txBody>
                  <a:tcPr anchor="ctr"/>
                </a:tc>
                <a:extLst>
                  <a:ext uri="{0D108BD9-81ED-4DB2-BD59-A6C34878D82A}">
                    <a16:rowId xmlns:a16="http://schemas.microsoft.com/office/drawing/2014/main" val="1309791807"/>
                  </a:ext>
                </a:extLst>
              </a:tr>
              <a:tr h="0">
                <a:tc>
                  <a:txBody>
                    <a:bodyPr/>
                    <a:lstStyle/>
                    <a:p>
                      <a:pPr>
                        <a:buNone/>
                      </a:pPr>
                      <a:r>
                        <a:rPr lang="en-US">
                          <a:solidFill>
                            <a:schemeClr val="tx2">
                              <a:lumMod val="75000"/>
                              <a:lumOff val="25000"/>
                            </a:schemeClr>
                          </a:solidFill>
                          <a:latin typeface="Josefin Sans" pitchFamily="2" charset="0"/>
                        </a:rPr>
                        <a:t>Temperature</a:t>
                      </a:r>
                    </a:p>
                  </a:txBody>
                  <a:tcPr anchor="ctr"/>
                </a:tc>
                <a:tc>
                  <a:txBody>
                    <a:bodyPr/>
                    <a:lstStyle/>
                    <a:p>
                      <a:pPr>
                        <a:buNone/>
                      </a:pPr>
                      <a:r>
                        <a:rPr lang="en-US">
                          <a:solidFill>
                            <a:schemeClr val="tx2">
                              <a:lumMod val="75000"/>
                              <a:lumOff val="25000"/>
                            </a:schemeClr>
                          </a:solidFill>
                          <a:latin typeface="Josefin Sans" pitchFamily="2" charset="0"/>
                        </a:rPr>
                        <a:t>12.5</a:t>
                      </a:r>
                    </a:p>
                  </a:txBody>
                  <a:tcPr anchor="ctr"/>
                </a:tc>
                <a:tc>
                  <a:txBody>
                    <a:bodyPr/>
                    <a:lstStyle/>
                    <a:p>
                      <a:pPr>
                        <a:buNone/>
                      </a:pPr>
                      <a:r>
                        <a:rPr lang="en-US">
                          <a:solidFill>
                            <a:schemeClr val="tx2">
                              <a:lumMod val="75000"/>
                              <a:lumOff val="25000"/>
                            </a:schemeClr>
                          </a:solidFill>
                          <a:latin typeface="Josefin Sans" pitchFamily="2" charset="0"/>
                        </a:rPr>
                        <a:t>-1.17</a:t>
                      </a:r>
                    </a:p>
                  </a:txBody>
                  <a:tcPr anchor="ctr"/>
                </a:tc>
                <a:extLst>
                  <a:ext uri="{0D108BD9-81ED-4DB2-BD59-A6C34878D82A}">
                    <a16:rowId xmlns:a16="http://schemas.microsoft.com/office/drawing/2014/main" val="3112858419"/>
                  </a:ext>
                </a:extLst>
              </a:tr>
              <a:tr h="0">
                <a:tc>
                  <a:txBody>
                    <a:bodyPr/>
                    <a:lstStyle/>
                    <a:p>
                      <a:pPr>
                        <a:buNone/>
                      </a:pPr>
                      <a:r>
                        <a:rPr lang="en-US">
                          <a:solidFill>
                            <a:schemeClr val="tx2">
                              <a:lumMod val="75000"/>
                              <a:lumOff val="25000"/>
                            </a:schemeClr>
                          </a:solidFill>
                          <a:latin typeface="Josefin Sans" pitchFamily="2" charset="0"/>
                        </a:rPr>
                        <a:t>CPI</a:t>
                      </a:r>
                    </a:p>
                  </a:txBody>
                  <a:tcPr anchor="ctr"/>
                </a:tc>
                <a:tc>
                  <a:txBody>
                    <a:bodyPr/>
                    <a:lstStyle/>
                    <a:p>
                      <a:pPr>
                        <a:buNone/>
                      </a:pPr>
                      <a:r>
                        <a:rPr lang="en-US">
                          <a:solidFill>
                            <a:schemeClr val="tx2">
                              <a:lumMod val="75000"/>
                              <a:lumOff val="25000"/>
                            </a:schemeClr>
                          </a:solidFill>
                          <a:latin typeface="Josefin Sans" pitchFamily="2" charset="0"/>
                        </a:rPr>
                        <a:t>211.3</a:t>
                      </a:r>
                    </a:p>
                  </a:txBody>
                  <a:tcPr anchor="ctr"/>
                </a:tc>
                <a:tc>
                  <a:txBody>
                    <a:bodyPr/>
                    <a:lstStyle/>
                    <a:p>
                      <a:pPr>
                        <a:buNone/>
                      </a:pPr>
                      <a:r>
                        <a:rPr lang="en-US">
                          <a:solidFill>
                            <a:schemeClr val="tx2">
                              <a:lumMod val="75000"/>
                              <a:lumOff val="25000"/>
                            </a:schemeClr>
                          </a:solidFill>
                          <a:latin typeface="Josefin Sans" pitchFamily="2" charset="0"/>
                        </a:rPr>
                        <a:t>1.02</a:t>
                      </a:r>
                    </a:p>
                  </a:txBody>
                  <a:tcPr anchor="ctr"/>
                </a:tc>
                <a:extLst>
                  <a:ext uri="{0D108BD9-81ED-4DB2-BD59-A6C34878D82A}">
                    <a16:rowId xmlns:a16="http://schemas.microsoft.com/office/drawing/2014/main" val="1908776611"/>
                  </a:ext>
                </a:extLst>
              </a:tr>
              <a:tr h="0">
                <a:tc>
                  <a:txBody>
                    <a:bodyPr/>
                    <a:lstStyle/>
                    <a:p>
                      <a:pPr>
                        <a:buNone/>
                      </a:pPr>
                      <a:r>
                        <a:rPr lang="en-US" err="1">
                          <a:solidFill>
                            <a:schemeClr val="tx2">
                              <a:lumMod val="75000"/>
                              <a:lumOff val="25000"/>
                            </a:schemeClr>
                          </a:solidFill>
                          <a:latin typeface="Josefin Sans" pitchFamily="2" charset="0"/>
                        </a:rPr>
                        <a:t>Fuel_Price</a:t>
                      </a:r>
                      <a:endParaRPr lang="en-US">
                        <a:solidFill>
                          <a:schemeClr val="tx2">
                            <a:lumMod val="75000"/>
                            <a:lumOff val="25000"/>
                          </a:schemeClr>
                        </a:solidFill>
                        <a:latin typeface="Josefin Sans" pitchFamily="2" charset="0"/>
                      </a:endParaRPr>
                    </a:p>
                  </a:txBody>
                  <a:tcPr anchor="ctr"/>
                </a:tc>
                <a:tc>
                  <a:txBody>
                    <a:bodyPr/>
                    <a:lstStyle/>
                    <a:p>
                      <a:pPr>
                        <a:buNone/>
                      </a:pPr>
                      <a:r>
                        <a:rPr lang="en-US">
                          <a:solidFill>
                            <a:schemeClr val="tx2">
                              <a:lumMod val="75000"/>
                              <a:lumOff val="25000"/>
                            </a:schemeClr>
                          </a:solidFill>
                          <a:latin typeface="Josefin Sans" pitchFamily="2" charset="0"/>
                        </a:rPr>
                        <a:t>3.10</a:t>
                      </a:r>
                    </a:p>
                  </a:txBody>
                  <a:tcPr anchor="ctr"/>
                </a:tc>
                <a:tc>
                  <a:txBody>
                    <a:bodyPr/>
                    <a:lstStyle/>
                    <a:p>
                      <a:pPr>
                        <a:buNone/>
                      </a:pPr>
                      <a:r>
                        <a:rPr lang="en-US">
                          <a:solidFill>
                            <a:schemeClr val="tx2">
                              <a:lumMod val="75000"/>
                              <a:lumOff val="25000"/>
                            </a:schemeClr>
                          </a:solidFill>
                          <a:latin typeface="Josefin Sans" pitchFamily="2" charset="0"/>
                        </a:rPr>
                        <a:t>-1.72</a:t>
                      </a:r>
                    </a:p>
                  </a:txBody>
                  <a:tcPr anchor="ctr"/>
                </a:tc>
                <a:extLst>
                  <a:ext uri="{0D108BD9-81ED-4DB2-BD59-A6C34878D82A}">
                    <a16:rowId xmlns:a16="http://schemas.microsoft.com/office/drawing/2014/main" val="886883739"/>
                  </a:ext>
                </a:extLst>
              </a:tr>
            </a:tbl>
          </a:graphicData>
        </a:graphic>
      </p:graphicFrame>
      <p:pic>
        <p:nvPicPr>
          <p:cNvPr id="2050" name="Picture 2" descr="Normalization z score – Edutized">
            <a:extLst>
              <a:ext uri="{FF2B5EF4-FFF2-40B4-BE49-F238E27FC236}">
                <a16:creationId xmlns:a16="http://schemas.microsoft.com/office/drawing/2014/main" id="{37753C2A-A93F-C551-A44E-19B67801E1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56" t="7101" r="13992" b="7103"/>
          <a:stretch>
            <a:fillRect/>
          </a:stretch>
        </p:blipFill>
        <p:spPr bwMode="auto">
          <a:xfrm>
            <a:off x="0" y="3209732"/>
            <a:ext cx="2687218" cy="1782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855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A49C3-FFFD-176A-42F0-37C9CD756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471A9-F978-8B1C-ED82-7C8C3CDFD12D}"/>
              </a:ext>
            </a:extLst>
          </p:cNvPr>
          <p:cNvSpPr>
            <a:spLocks noGrp="1"/>
          </p:cNvSpPr>
          <p:nvPr>
            <p:ph type="title"/>
          </p:nvPr>
        </p:nvSpPr>
        <p:spPr/>
        <p:txBody>
          <a:bodyPr/>
          <a:lstStyle/>
          <a:p>
            <a:r>
              <a:rPr lang="en-US">
                <a:latin typeface="Josefin Sans" pitchFamily="2" charset="0"/>
              </a:rPr>
              <a:t>Final Dataset Summary</a:t>
            </a:r>
          </a:p>
        </p:txBody>
      </p:sp>
      <p:sp>
        <p:nvSpPr>
          <p:cNvPr id="4" name="TextBox 3">
            <a:extLst>
              <a:ext uri="{FF2B5EF4-FFF2-40B4-BE49-F238E27FC236}">
                <a16:creationId xmlns:a16="http://schemas.microsoft.com/office/drawing/2014/main" id="{ACE4B1F8-0737-02F8-90F9-46547AB56D5B}"/>
              </a:ext>
            </a:extLst>
          </p:cNvPr>
          <p:cNvSpPr txBox="1"/>
          <p:nvPr/>
        </p:nvSpPr>
        <p:spPr>
          <a:xfrm>
            <a:off x="838200" y="1412240"/>
            <a:ext cx="10226040" cy="1323439"/>
          </a:xfrm>
          <a:prstGeom prst="rect">
            <a:avLst/>
          </a:prstGeom>
          <a:noFill/>
        </p:spPr>
        <p:txBody>
          <a:bodyPr wrap="square" rtlCol="0">
            <a:spAutoFit/>
          </a:bodyPr>
          <a:lstStyle/>
          <a:p>
            <a:r>
              <a:rPr lang="en-US" sz="2000">
                <a:latin typeface="Josefin Sans" pitchFamily="2" charset="0"/>
              </a:rPr>
              <a:t>At the end of Stage 1, both training and test data were fully cleaned, transformed, and enriched.</a:t>
            </a:r>
            <a:br>
              <a:rPr lang="en-US" sz="2000">
                <a:latin typeface="Josefin Sans" pitchFamily="2" charset="0"/>
              </a:rPr>
            </a:br>
            <a:r>
              <a:rPr lang="en-US" sz="2000">
                <a:latin typeface="Josefin Sans" pitchFamily="2" charset="0"/>
              </a:rPr>
              <a:t>This dataset is now suitable for machine learning and deep learning forecasting models.</a:t>
            </a:r>
          </a:p>
        </p:txBody>
      </p:sp>
      <p:pic>
        <p:nvPicPr>
          <p:cNvPr id="8" name="Picture 7" descr="A screenshot of a computer&#10;&#10;AI-generated content may be incorrect.">
            <a:extLst>
              <a:ext uri="{FF2B5EF4-FFF2-40B4-BE49-F238E27FC236}">
                <a16:creationId xmlns:a16="http://schemas.microsoft.com/office/drawing/2014/main" id="{E7998C61-C0BC-1A86-F0D7-FAB6E935433B}"/>
              </a:ext>
            </a:extLst>
          </p:cNvPr>
          <p:cNvPicPr>
            <a:picLocks noChangeAspect="1"/>
          </p:cNvPicPr>
          <p:nvPr/>
        </p:nvPicPr>
        <p:blipFill>
          <a:blip r:embed="rId2"/>
          <a:stretch>
            <a:fillRect/>
          </a:stretch>
        </p:blipFill>
        <p:spPr>
          <a:xfrm>
            <a:off x="2531475" y="2661920"/>
            <a:ext cx="7129049" cy="3260298"/>
          </a:xfrm>
          <a:prstGeom prst="rect">
            <a:avLst/>
          </a:prstGeom>
        </p:spPr>
      </p:pic>
      <p:sp>
        <p:nvSpPr>
          <p:cNvPr id="3" name="TextBox 2">
            <a:extLst>
              <a:ext uri="{FF2B5EF4-FFF2-40B4-BE49-F238E27FC236}">
                <a16:creationId xmlns:a16="http://schemas.microsoft.com/office/drawing/2014/main" id="{5A917AEC-702B-1ADD-03BC-35C08F11041A}"/>
              </a:ext>
            </a:extLst>
          </p:cNvPr>
          <p:cNvSpPr txBox="1"/>
          <p:nvPr/>
        </p:nvSpPr>
        <p:spPr>
          <a:xfrm>
            <a:off x="5210339" y="5938158"/>
            <a:ext cx="1771319" cy="646331"/>
          </a:xfrm>
          <a:prstGeom prst="rect">
            <a:avLst/>
          </a:prstGeom>
          <a:noFill/>
        </p:spPr>
        <p:txBody>
          <a:bodyPr wrap="none" rtlCol="0">
            <a:spAutoFit/>
          </a:bodyPr>
          <a:lstStyle/>
          <a:p>
            <a:r>
              <a:rPr lang="en-US" err="1"/>
              <a:t>train.csv</a:t>
            </a:r>
            <a:r>
              <a:rPr lang="en-US"/>
              <a:t>  Before</a:t>
            </a:r>
          </a:p>
          <a:p>
            <a:endParaRPr lang="en-US"/>
          </a:p>
        </p:txBody>
      </p:sp>
    </p:spTree>
    <p:extLst>
      <p:ext uri="{BB962C8B-B14F-4D97-AF65-F5344CB8AC3E}">
        <p14:creationId xmlns:p14="http://schemas.microsoft.com/office/powerpoint/2010/main" val="1597822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id of black dots&#10;&#10;AI-generated content may be incorrect.">
            <a:extLst>
              <a:ext uri="{FF2B5EF4-FFF2-40B4-BE49-F238E27FC236}">
                <a16:creationId xmlns:a16="http://schemas.microsoft.com/office/drawing/2014/main" id="{5CF6E969-92EB-5D54-8F38-86972F86BDBA}"/>
              </a:ext>
            </a:extLst>
          </p:cNvPr>
          <p:cNvPicPr>
            <a:picLocks noChangeAspect="1"/>
          </p:cNvPicPr>
          <p:nvPr/>
        </p:nvPicPr>
        <p:blipFill>
          <a:blip r:embed="rId2"/>
          <a:stretch>
            <a:fillRect/>
          </a:stretch>
        </p:blipFill>
        <p:spPr>
          <a:xfrm>
            <a:off x="10695" y="2081755"/>
            <a:ext cx="12181305" cy="4308885"/>
          </a:xfrm>
          <a:prstGeom prst="rect">
            <a:avLst/>
          </a:prstGeom>
        </p:spPr>
      </p:pic>
      <p:sp>
        <p:nvSpPr>
          <p:cNvPr id="4" name="Title 1">
            <a:extLst>
              <a:ext uri="{FF2B5EF4-FFF2-40B4-BE49-F238E27FC236}">
                <a16:creationId xmlns:a16="http://schemas.microsoft.com/office/drawing/2014/main" id="{A0676AE2-8964-191B-E00E-398EBEB97E7E}"/>
              </a:ext>
            </a:extLst>
          </p:cNvPr>
          <p:cNvSpPr>
            <a:spLocks noGrp="1"/>
          </p:cNvSpPr>
          <p:nvPr>
            <p:ph type="title"/>
          </p:nvPr>
        </p:nvSpPr>
        <p:spPr>
          <a:xfrm>
            <a:off x="838200" y="365125"/>
            <a:ext cx="10515600" cy="1325563"/>
          </a:xfrm>
        </p:spPr>
        <p:txBody>
          <a:bodyPr/>
          <a:lstStyle/>
          <a:p>
            <a:r>
              <a:rPr lang="en-US">
                <a:latin typeface="Josefin Sans" pitchFamily="2" charset="0"/>
              </a:rPr>
              <a:t>Final Dataset Summary</a:t>
            </a:r>
          </a:p>
        </p:txBody>
      </p:sp>
      <p:sp>
        <p:nvSpPr>
          <p:cNvPr id="3" name="TextBox 2">
            <a:extLst>
              <a:ext uri="{FF2B5EF4-FFF2-40B4-BE49-F238E27FC236}">
                <a16:creationId xmlns:a16="http://schemas.microsoft.com/office/drawing/2014/main" id="{2FA01E83-F04E-4BD6-622E-3AFD8E22F0E9}"/>
              </a:ext>
            </a:extLst>
          </p:cNvPr>
          <p:cNvSpPr txBox="1"/>
          <p:nvPr/>
        </p:nvSpPr>
        <p:spPr>
          <a:xfrm>
            <a:off x="4938863" y="1690688"/>
            <a:ext cx="2212909" cy="369332"/>
          </a:xfrm>
          <a:prstGeom prst="rect">
            <a:avLst/>
          </a:prstGeom>
          <a:noFill/>
        </p:spPr>
        <p:txBody>
          <a:bodyPr wrap="square">
            <a:spAutoFit/>
          </a:bodyPr>
          <a:lstStyle/>
          <a:p>
            <a:r>
              <a:rPr lang="en-US" err="1"/>
              <a:t>train_final.csv</a:t>
            </a:r>
            <a:r>
              <a:rPr lang="en-US"/>
              <a:t>  After</a:t>
            </a:r>
          </a:p>
        </p:txBody>
      </p:sp>
    </p:spTree>
    <p:extLst>
      <p:ext uri="{BB962C8B-B14F-4D97-AF65-F5344CB8AC3E}">
        <p14:creationId xmlns:p14="http://schemas.microsoft.com/office/powerpoint/2010/main" val="1970138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ABE21-FC80-B2A6-61FA-85A27F860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16798-6516-EF77-BC8C-273F5B8B75A5}"/>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Milestone 2: Advanced Data Analysis &amp; Feature Engineering</a:t>
            </a:r>
          </a:p>
        </p:txBody>
      </p:sp>
      <p:sp>
        <p:nvSpPr>
          <p:cNvPr id="3" name="Title 1">
            <a:extLst>
              <a:ext uri="{FF2B5EF4-FFF2-40B4-BE49-F238E27FC236}">
                <a16:creationId xmlns:a16="http://schemas.microsoft.com/office/drawing/2014/main" id="{657473B7-1C89-D5FC-1C53-1394290C37D8}"/>
              </a:ext>
            </a:extLst>
          </p:cNvPr>
          <p:cNvSpPr txBox="1">
            <a:spLocks/>
          </p:cNvSpPr>
          <p:nvPr/>
        </p:nvSpPr>
        <p:spPr>
          <a:xfrm>
            <a:off x="650158" y="1513706"/>
            <a:ext cx="10891684" cy="2358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3200">
                <a:latin typeface="Josefin Sans" pitchFamily="2" charset="0"/>
              </a:rPr>
              <a:t>In Milestone 2 we performed advanced time-series analysis and expanded our feature set to improve forecasting accuracy.</a:t>
            </a:r>
          </a:p>
        </p:txBody>
      </p:sp>
    </p:spTree>
    <p:extLst>
      <p:ext uri="{BB962C8B-B14F-4D97-AF65-F5344CB8AC3E}">
        <p14:creationId xmlns:p14="http://schemas.microsoft.com/office/powerpoint/2010/main" val="4160589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F502C-DF04-3182-EF06-8C5FB268C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6B91D-6A6F-BFD1-4623-AD6B138AE9F9}"/>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Stage 2 Overview</a:t>
            </a:r>
          </a:p>
        </p:txBody>
      </p:sp>
      <p:grpSp>
        <p:nvGrpSpPr>
          <p:cNvPr id="15" name="Group 14">
            <a:extLst>
              <a:ext uri="{FF2B5EF4-FFF2-40B4-BE49-F238E27FC236}">
                <a16:creationId xmlns:a16="http://schemas.microsoft.com/office/drawing/2014/main" id="{6CFC9F7D-6B4E-F981-4668-B2403F534E46}"/>
              </a:ext>
            </a:extLst>
          </p:cNvPr>
          <p:cNvGrpSpPr/>
          <p:nvPr/>
        </p:nvGrpSpPr>
        <p:grpSpPr>
          <a:xfrm>
            <a:off x="4002345" y="1938132"/>
            <a:ext cx="3647767" cy="3313932"/>
            <a:chOff x="4002345" y="1582532"/>
            <a:chExt cx="3647767" cy="3313932"/>
          </a:xfrm>
        </p:grpSpPr>
        <p:sp>
          <p:nvSpPr>
            <p:cNvPr id="4" name="Rectangle: Rounded Corners 3">
              <a:extLst>
                <a:ext uri="{FF2B5EF4-FFF2-40B4-BE49-F238E27FC236}">
                  <a16:creationId xmlns:a16="http://schemas.microsoft.com/office/drawing/2014/main" id="{ECD7A49A-EBCF-918C-3C52-45924CC60D5F}"/>
                </a:ext>
              </a:extLst>
            </p:cNvPr>
            <p:cNvSpPr/>
            <p:nvPr/>
          </p:nvSpPr>
          <p:spPr>
            <a:xfrm>
              <a:off x="4002345" y="1582532"/>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Advanced Analysis</a:t>
              </a:r>
              <a:endParaRPr lang="en-US">
                <a:latin typeface="Josefin Sans" pitchFamily="2" charset="0"/>
              </a:endParaRPr>
            </a:p>
          </p:txBody>
        </p:sp>
        <p:sp>
          <p:nvSpPr>
            <p:cNvPr id="5" name="Rectangle: Rounded Corners 4">
              <a:extLst>
                <a:ext uri="{FF2B5EF4-FFF2-40B4-BE49-F238E27FC236}">
                  <a16:creationId xmlns:a16="http://schemas.microsoft.com/office/drawing/2014/main" id="{58D90911-A0D8-68D0-D84D-D34C53D1ECC7}"/>
                </a:ext>
              </a:extLst>
            </p:cNvPr>
            <p:cNvSpPr/>
            <p:nvPr/>
          </p:nvSpPr>
          <p:spPr>
            <a:xfrm>
              <a:off x="4002345" y="2821396"/>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Enhanced Feature Engineering</a:t>
              </a:r>
              <a:endParaRPr lang="en-US">
                <a:latin typeface="Josefin Sans" pitchFamily="2" charset="0"/>
              </a:endParaRPr>
            </a:p>
          </p:txBody>
        </p:sp>
        <p:sp>
          <p:nvSpPr>
            <p:cNvPr id="6" name="Rectangle: Rounded Corners 5">
              <a:extLst>
                <a:ext uri="{FF2B5EF4-FFF2-40B4-BE49-F238E27FC236}">
                  <a16:creationId xmlns:a16="http://schemas.microsoft.com/office/drawing/2014/main" id="{A3E163EB-B29C-96E8-36E0-D4362369EBA5}"/>
                </a:ext>
              </a:extLst>
            </p:cNvPr>
            <p:cNvSpPr/>
            <p:nvPr/>
          </p:nvSpPr>
          <p:spPr>
            <a:xfrm>
              <a:off x="4002345" y="4060260"/>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Advanced Visualizations</a:t>
              </a:r>
              <a:endParaRPr lang="en-US">
                <a:latin typeface="Josefin Sans" pitchFamily="2" charset="0"/>
              </a:endParaRPr>
            </a:p>
          </p:txBody>
        </p:sp>
        <p:cxnSp>
          <p:nvCxnSpPr>
            <p:cNvPr id="9" name="Straight Arrow Connector 8">
              <a:extLst>
                <a:ext uri="{FF2B5EF4-FFF2-40B4-BE49-F238E27FC236}">
                  <a16:creationId xmlns:a16="http://schemas.microsoft.com/office/drawing/2014/main" id="{8C3CAEC6-2F0C-C03F-2A46-DA9C327AB096}"/>
                </a:ext>
              </a:extLst>
            </p:cNvPr>
            <p:cNvCxnSpPr>
              <a:stCxn id="4" idx="2"/>
              <a:endCxn id="5" idx="0"/>
            </p:cNvCxnSpPr>
            <p:nvPr/>
          </p:nvCxnSpPr>
          <p:spPr>
            <a:xfrm>
              <a:off x="5826229" y="2418736"/>
              <a:ext cx="0" cy="402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4460AE5-A1AE-FEEF-DE2C-4083012725BE}"/>
                </a:ext>
              </a:extLst>
            </p:cNvPr>
            <p:cNvCxnSpPr/>
            <p:nvPr/>
          </p:nvCxnSpPr>
          <p:spPr>
            <a:xfrm>
              <a:off x="5841591" y="3657600"/>
              <a:ext cx="0" cy="402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17180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D0EC8-6B5B-5435-5BF0-12E6EB336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611AD-B3A7-FAE0-C123-FF5B63ECF505}"/>
              </a:ext>
            </a:extLst>
          </p:cNvPr>
          <p:cNvSpPr>
            <a:spLocks noGrp="1"/>
          </p:cNvSpPr>
          <p:nvPr>
            <p:ph type="title"/>
          </p:nvPr>
        </p:nvSpPr>
        <p:spPr>
          <a:xfrm>
            <a:off x="650158" y="188143"/>
            <a:ext cx="10891684" cy="1325563"/>
          </a:xfrm>
        </p:spPr>
        <p:txBody>
          <a:bodyPr>
            <a:normAutofit/>
          </a:bodyPr>
          <a:lstStyle/>
          <a:p>
            <a:r>
              <a:rPr lang="en-US" sz="3200">
                <a:latin typeface="Josefin Sans" pitchFamily="2" charset="0"/>
              </a:rPr>
              <a:t>Task 2.1: Advanced Data Analysis (overview)</a:t>
            </a:r>
          </a:p>
        </p:txBody>
      </p:sp>
      <p:sp>
        <p:nvSpPr>
          <p:cNvPr id="3" name="Title 1">
            <a:extLst>
              <a:ext uri="{FF2B5EF4-FFF2-40B4-BE49-F238E27FC236}">
                <a16:creationId xmlns:a16="http://schemas.microsoft.com/office/drawing/2014/main" id="{DD015143-A8FC-3DD9-24FD-7E7456785BEB}"/>
              </a:ext>
            </a:extLst>
          </p:cNvPr>
          <p:cNvSpPr txBox="1">
            <a:spLocks/>
          </p:cNvSpPr>
          <p:nvPr/>
        </p:nvSpPr>
        <p:spPr>
          <a:xfrm>
            <a:off x="650158" y="1347674"/>
            <a:ext cx="10891684" cy="13255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400">
                <a:latin typeface="Josefin Sans" pitchFamily="2" charset="0"/>
              </a:rPr>
              <a:t>Task 2.1 performed time-series decomposition, stationarity testing, correlation analysis, and quantified holiday effects.</a:t>
            </a:r>
          </a:p>
        </p:txBody>
      </p:sp>
      <p:sp>
        <p:nvSpPr>
          <p:cNvPr id="4" name="Title 1">
            <a:extLst>
              <a:ext uri="{FF2B5EF4-FFF2-40B4-BE49-F238E27FC236}">
                <a16:creationId xmlns:a16="http://schemas.microsoft.com/office/drawing/2014/main" id="{A8BE21B2-310C-5A21-27D6-4C94078039F5}"/>
              </a:ext>
            </a:extLst>
          </p:cNvPr>
          <p:cNvSpPr txBox="1">
            <a:spLocks/>
          </p:cNvSpPr>
          <p:nvPr/>
        </p:nvSpPr>
        <p:spPr>
          <a:xfrm>
            <a:off x="650158" y="2373834"/>
            <a:ext cx="10891684" cy="38136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just">
              <a:lnSpc>
                <a:spcPct val="260000"/>
              </a:lnSpc>
              <a:buFont typeface="Arial" panose="020B0604020202020204" pitchFamily="34" charset="0"/>
              <a:buChar char="•"/>
            </a:pPr>
            <a:r>
              <a:rPr lang="en-US" sz="2000">
                <a:latin typeface="Josefin Sans" pitchFamily="2" charset="0"/>
              </a:rPr>
              <a:t>Time Series Decomposition (Trend, Seasonality, Residual)</a:t>
            </a:r>
          </a:p>
          <a:p>
            <a:pPr marL="342900" indent="-342900" algn="just">
              <a:lnSpc>
                <a:spcPct val="260000"/>
              </a:lnSpc>
              <a:buFont typeface="Arial" panose="020B0604020202020204" pitchFamily="34" charset="0"/>
              <a:buChar char="•"/>
            </a:pPr>
            <a:r>
              <a:rPr lang="en-US" sz="2000">
                <a:latin typeface="Josefin Sans" pitchFamily="2" charset="0"/>
              </a:rPr>
              <a:t> </a:t>
            </a:r>
            <a:r>
              <a:rPr lang="en-US" sz="2000" err="1">
                <a:latin typeface="Josefin Sans" pitchFamily="2" charset="0"/>
              </a:rPr>
              <a:t>ADF</a:t>
            </a:r>
            <a:r>
              <a:rPr lang="en-US" sz="2000">
                <a:latin typeface="Josefin Sans" pitchFamily="2" charset="0"/>
              </a:rPr>
              <a:t> Stationarity Test </a:t>
            </a:r>
          </a:p>
          <a:p>
            <a:pPr marL="342900" indent="-342900" algn="just">
              <a:lnSpc>
                <a:spcPct val="260000"/>
              </a:lnSpc>
              <a:buFont typeface="Arial" panose="020B0604020202020204" pitchFamily="34" charset="0"/>
              <a:buChar char="•"/>
            </a:pPr>
            <a:r>
              <a:rPr lang="en-US" sz="2000">
                <a:latin typeface="Josefin Sans" pitchFamily="2" charset="0"/>
              </a:rPr>
              <a:t>Correlation Analysis (heatmap + top predictors)</a:t>
            </a:r>
          </a:p>
          <a:p>
            <a:pPr marL="342900" indent="-342900" algn="just">
              <a:lnSpc>
                <a:spcPct val="260000"/>
              </a:lnSpc>
              <a:buFont typeface="Arial" panose="020B0604020202020204" pitchFamily="34" charset="0"/>
              <a:buChar char="•"/>
            </a:pPr>
            <a:r>
              <a:rPr lang="en-US" sz="2000">
                <a:latin typeface="Josefin Sans" pitchFamily="2" charset="0"/>
              </a:rPr>
              <a:t> Holiday Impact Analysis</a:t>
            </a:r>
          </a:p>
        </p:txBody>
      </p:sp>
    </p:spTree>
    <p:extLst>
      <p:ext uri="{BB962C8B-B14F-4D97-AF65-F5344CB8AC3E}">
        <p14:creationId xmlns:p14="http://schemas.microsoft.com/office/powerpoint/2010/main" val="19681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56B3C-2076-42BE-ED84-F6A1562A3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AA01E-8F26-0B5B-3B04-B7945E1DFCDD}"/>
              </a:ext>
            </a:extLst>
          </p:cNvPr>
          <p:cNvSpPr>
            <a:spLocks noGrp="1"/>
          </p:cNvSpPr>
          <p:nvPr>
            <p:ph type="title"/>
          </p:nvPr>
        </p:nvSpPr>
        <p:spPr>
          <a:xfrm>
            <a:off x="447037" y="-5512"/>
            <a:ext cx="10515600" cy="585118"/>
          </a:xfrm>
        </p:spPr>
        <p:txBody>
          <a:bodyPr>
            <a:normAutofit fontScale="90000"/>
          </a:bodyPr>
          <a:lstStyle/>
          <a:p>
            <a:pPr marR="0" lvl="0" algn="just" defTabSz="914400" rtl="0" eaLnBrk="1" fontAlgn="auto" latinLnBrk="0" hangingPunct="1">
              <a:lnSpc>
                <a:spcPct val="260000"/>
              </a:lnSpc>
              <a:spcBef>
                <a:spcPts val="0"/>
              </a:spcBef>
              <a:spcAft>
                <a:spcPts val="0"/>
              </a:spcAft>
              <a:buClrTx/>
              <a:buSzTx/>
              <a:tabLst/>
              <a:defRPr/>
            </a:pPr>
            <a:r>
              <a:rPr kumimoji="0" lang="en-US" sz="2800" b="0" i="0" u="none" strike="noStrike" kern="1200" cap="none" spc="0" normalizeH="0" baseline="0" noProof="0">
                <a:ln>
                  <a:noFill/>
                </a:ln>
                <a:solidFill>
                  <a:prstClr val="black"/>
                </a:solidFill>
                <a:effectLst/>
                <a:uLnTx/>
                <a:uFillTx/>
                <a:latin typeface="Josefin Sans" pitchFamily="2" charset="0"/>
                <a:ea typeface="+mn-ea"/>
                <a:cs typeface="+mn-cs"/>
              </a:rPr>
              <a:t>Time Series Decomposition (Trend, Seasonality, Residual)</a:t>
            </a:r>
          </a:p>
        </p:txBody>
      </p:sp>
      <p:sp>
        <p:nvSpPr>
          <p:cNvPr id="5" name="Rectangle: Rounded Corners 4">
            <a:extLst>
              <a:ext uri="{FF2B5EF4-FFF2-40B4-BE49-F238E27FC236}">
                <a16:creationId xmlns:a16="http://schemas.microsoft.com/office/drawing/2014/main" id="{2C55189C-311D-D26B-B158-871180C897BA}"/>
              </a:ext>
            </a:extLst>
          </p:cNvPr>
          <p:cNvSpPr/>
          <p:nvPr/>
        </p:nvSpPr>
        <p:spPr>
          <a:xfrm>
            <a:off x="5384076" y="2753960"/>
            <a:ext cx="1850571" cy="43387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solidFill>
                  <a:schemeClr val="tx2">
                    <a:lumMod val="75000"/>
                    <a:lumOff val="25000"/>
                  </a:schemeClr>
                </a:solidFill>
                <a:latin typeface="Josefin Sans" pitchFamily="2" charset="0"/>
              </a:rPr>
              <a:t>Original</a:t>
            </a:r>
          </a:p>
        </p:txBody>
      </p:sp>
      <p:sp>
        <p:nvSpPr>
          <p:cNvPr id="6" name="Rectangle: Rounded Corners 5">
            <a:extLst>
              <a:ext uri="{FF2B5EF4-FFF2-40B4-BE49-F238E27FC236}">
                <a16:creationId xmlns:a16="http://schemas.microsoft.com/office/drawing/2014/main" id="{10AAB71C-1DDC-4ED0-1131-A489D3CD4A96}"/>
              </a:ext>
            </a:extLst>
          </p:cNvPr>
          <p:cNvSpPr/>
          <p:nvPr/>
        </p:nvSpPr>
        <p:spPr>
          <a:xfrm>
            <a:off x="1051562" y="3868969"/>
            <a:ext cx="1850571" cy="43387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solidFill>
                  <a:schemeClr val="tx2">
                    <a:lumMod val="75000"/>
                    <a:lumOff val="25000"/>
                  </a:schemeClr>
                </a:solidFill>
                <a:latin typeface="Josefin Sans" pitchFamily="2" charset="0"/>
              </a:rPr>
              <a:t>Trend</a:t>
            </a:r>
          </a:p>
        </p:txBody>
      </p:sp>
      <p:sp>
        <p:nvSpPr>
          <p:cNvPr id="9" name="Rectangle: Rounded Corners 8">
            <a:extLst>
              <a:ext uri="{FF2B5EF4-FFF2-40B4-BE49-F238E27FC236}">
                <a16:creationId xmlns:a16="http://schemas.microsoft.com/office/drawing/2014/main" id="{1A585458-B205-507D-23A4-799964E686F2}"/>
              </a:ext>
            </a:extLst>
          </p:cNvPr>
          <p:cNvSpPr/>
          <p:nvPr/>
        </p:nvSpPr>
        <p:spPr>
          <a:xfrm>
            <a:off x="5384074" y="3810252"/>
            <a:ext cx="1850571" cy="43387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solidFill>
                  <a:schemeClr val="tx2">
                    <a:lumMod val="75000"/>
                    <a:lumOff val="25000"/>
                  </a:schemeClr>
                </a:solidFill>
                <a:latin typeface="Josefin Sans" pitchFamily="2" charset="0"/>
              </a:rPr>
              <a:t>Seasonality</a:t>
            </a:r>
          </a:p>
        </p:txBody>
      </p:sp>
      <p:sp>
        <p:nvSpPr>
          <p:cNvPr id="10" name="Rectangle: Rounded Corners 9">
            <a:extLst>
              <a:ext uri="{FF2B5EF4-FFF2-40B4-BE49-F238E27FC236}">
                <a16:creationId xmlns:a16="http://schemas.microsoft.com/office/drawing/2014/main" id="{6D7CD872-47B4-8C1B-69F0-89AC5E65C588}"/>
              </a:ext>
            </a:extLst>
          </p:cNvPr>
          <p:cNvSpPr/>
          <p:nvPr/>
        </p:nvSpPr>
        <p:spPr>
          <a:xfrm>
            <a:off x="9716589" y="3864302"/>
            <a:ext cx="1850571" cy="43387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solidFill>
                  <a:schemeClr val="tx2">
                    <a:lumMod val="75000"/>
                    <a:lumOff val="25000"/>
                  </a:schemeClr>
                </a:solidFill>
                <a:latin typeface="Josefin Sans" pitchFamily="2" charset="0"/>
              </a:rPr>
              <a:t>Residual</a:t>
            </a:r>
          </a:p>
        </p:txBody>
      </p:sp>
      <p:cxnSp>
        <p:nvCxnSpPr>
          <p:cNvPr id="12" name="Connector: Curved 11">
            <a:extLst>
              <a:ext uri="{FF2B5EF4-FFF2-40B4-BE49-F238E27FC236}">
                <a16:creationId xmlns:a16="http://schemas.microsoft.com/office/drawing/2014/main" id="{4CB4CB61-8DE3-0BD7-D59C-C05CC886DDFD}"/>
              </a:ext>
            </a:extLst>
          </p:cNvPr>
          <p:cNvCxnSpPr>
            <a:stCxn id="5" idx="2"/>
            <a:endCxn id="6" idx="0"/>
          </p:cNvCxnSpPr>
          <p:nvPr/>
        </p:nvCxnSpPr>
        <p:spPr>
          <a:xfrm rot="5400000">
            <a:off x="3802537" y="1362144"/>
            <a:ext cx="681136" cy="4332514"/>
          </a:xfrm>
          <a:prstGeom prst="curvedConnector3">
            <a:avLst/>
          </a:prstGeom>
          <a:ln>
            <a:tailEnd type="triangle"/>
          </a:ln>
        </p:spPr>
        <p:style>
          <a:lnRef idx="2">
            <a:schemeClr val="accent1"/>
          </a:lnRef>
          <a:fillRef idx="1">
            <a:schemeClr val="lt1"/>
          </a:fillRef>
          <a:effectRef idx="0">
            <a:schemeClr val="accent1"/>
          </a:effectRef>
          <a:fontRef idx="minor">
            <a:schemeClr val="dk1"/>
          </a:fontRef>
        </p:style>
      </p:cxnSp>
      <p:cxnSp>
        <p:nvCxnSpPr>
          <p:cNvPr id="16" name="Connector: Curved 15">
            <a:extLst>
              <a:ext uri="{FF2B5EF4-FFF2-40B4-BE49-F238E27FC236}">
                <a16:creationId xmlns:a16="http://schemas.microsoft.com/office/drawing/2014/main" id="{300AB139-0D81-08EA-C7AD-03178B6F0E3A}"/>
              </a:ext>
            </a:extLst>
          </p:cNvPr>
          <p:cNvCxnSpPr>
            <a:stCxn id="5" idx="2"/>
            <a:endCxn id="10" idx="0"/>
          </p:cNvCxnSpPr>
          <p:nvPr/>
        </p:nvCxnSpPr>
        <p:spPr>
          <a:xfrm rot="16200000" flipH="1">
            <a:off x="8137384" y="1359810"/>
            <a:ext cx="676469" cy="4332513"/>
          </a:xfrm>
          <a:prstGeom prst="curvedConnector3">
            <a:avLst/>
          </a:prstGeom>
          <a:ln>
            <a:tailEnd type="triangle"/>
          </a:ln>
        </p:spPr>
        <p:style>
          <a:lnRef idx="2">
            <a:schemeClr val="accent1"/>
          </a:lnRef>
          <a:fillRef idx="1">
            <a:schemeClr val="lt1"/>
          </a:fillRef>
          <a:effectRef idx="0">
            <a:schemeClr val="accent1"/>
          </a:effectRef>
          <a:fontRef idx="minor">
            <a:schemeClr val="dk1"/>
          </a:fontRef>
        </p:style>
      </p:cxnSp>
      <p:cxnSp>
        <p:nvCxnSpPr>
          <p:cNvPr id="18" name="Straight Arrow Connector 17">
            <a:extLst>
              <a:ext uri="{FF2B5EF4-FFF2-40B4-BE49-F238E27FC236}">
                <a16:creationId xmlns:a16="http://schemas.microsoft.com/office/drawing/2014/main" id="{DA8C5762-393A-5E9C-8AD3-26ACAE10762B}"/>
              </a:ext>
            </a:extLst>
          </p:cNvPr>
          <p:cNvCxnSpPr>
            <a:stCxn id="5" idx="2"/>
            <a:endCxn id="9" idx="0"/>
          </p:cNvCxnSpPr>
          <p:nvPr/>
        </p:nvCxnSpPr>
        <p:spPr>
          <a:xfrm flipH="1">
            <a:off x="6309360" y="3187833"/>
            <a:ext cx="2" cy="622419"/>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sp>
        <p:nvSpPr>
          <p:cNvPr id="30" name="TextBox 29">
            <a:extLst>
              <a:ext uri="{FF2B5EF4-FFF2-40B4-BE49-F238E27FC236}">
                <a16:creationId xmlns:a16="http://schemas.microsoft.com/office/drawing/2014/main" id="{5891EF29-4202-51BB-868C-6EFE79943A15}"/>
              </a:ext>
            </a:extLst>
          </p:cNvPr>
          <p:cNvSpPr txBox="1"/>
          <p:nvPr/>
        </p:nvSpPr>
        <p:spPr>
          <a:xfrm>
            <a:off x="2580639" y="935747"/>
            <a:ext cx="7457440" cy="1477328"/>
          </a:xfrm>
          <a:prstGeom prst="rect">
            <a:avLst/>
          </a:prstGeom>
          <a:noFill/>
        </p:spPr>
        <p:txBody>
          <a:bodyPr wrap="square">
            <a:spAutoFit/>
          </a:bodyPr>
          <a:lstStyle/>
          <a:p>
            <a:r>
              <a:rPr lang="en-US">
                <a:latin typeface="Josefin Sans" pitchFamily="2" charset="0"/>
              </a:rPr>
              <a:t>First, we aggregated the data into a single weekly time series by summing weekly sales across all stores and departments,  and sorted it by date.</a:t>
            </a:r>
          </a:p>
          <a:p>
            <a:r>
              <a:rPr lang="en-US" err="1">
                <a:latin typeface="Calibri Light" panose="020F0302020204030204" pitchFamily="34" charset="0"/>
                <a:ea typeface="Calibri Light" panose="020F0302020204030204" pitchFamily="34" charset="0"/>
                <a:cs typeface="Calibri Light" panose="020F0302020204030204" pitchFamily="34" charset="0"/>
              </a:rPr>
              <a:t>weekly_sales</a:t>
            </a:r>
            <a:r>
              <a:rPr lang="en-US">
                <a:latin typeface="Calibri Light" panose="020F0302020204030204" pitchFamily="34" charset="0"/>
                <a:ea typeface="Calibri Light" panose="020F0302020204030204" pitchFamily="34" charset="0"/>
                <a:cs typeface="Calibri Light" panose="020F0302020204030204" pitchFamily="34" charset="0"/>
              </a:rPr>
              <a:t> = </a:t>
            </a:r>
            <a:r>
              <a:rPr lang="en-US" err="1">
                <a:latin typeface="Calibri Light" panose="020F0302020204030204" pitchFamily="34" charset="0"/>
                <a:ea typeface="Calibri Light" panose="020F0302020204030204" pitchFamily="34" charset="0"/>
                <a:cs typeface="Calibri Light" panose="020F0302020204030204" pitchFamily="34" charset="0"/>
              </a:rPr>
              <a:t>train.groupby</a:t>
            </a:r>
            <a:r>
              <a:rPr lang="en-US">
                <a:latin typeface="Calibri Light" panose="020F0302020204030204" pitchFamily="34" charset="0"/>
                <a:ea typeface="Calibri Light" panose="020F0302020204030204" pitchFamily="34" charset="0"/>
                <a:cs typeface="Calibri Light" panose="020F0302020204030204" pitchFamily="34" charset="0"/>
              </a:rPr>
              <a:t>('Date')['</a:t>
            </a:r>
            <a:r>
              <a:rPr lang="en-US" err="1">
                <a:latin typeface="Calibri Light" panose="020F0302020204030204" pitchFamily="34" charset="0"/>
                <a:ea typeface="Calibri Light" panose="020F0302020204030204" pitchFamily="34" charset="0"/>
                <a:cs typeface="Calibri Light" panose="020F0302020204030204" pitchFamily="34" charset="0"/>
              </a:rPr>
              <a:t>Weekly_Sales</a:t>
            </a:r>
            <a:r>
              <a:rPr lang="en-US">
                <a:latin typeface="Calibri Light" panose="020F0302020204030204" pitchFamily="34" charset="0"/>
                <a:ea typeface="Calibri Light" panose="020F0302020204030204" pitchFamily="34" charset="0"/>
                <a:cs typeface="Calibri Light" panose="020F0302020204030204" pitchFamily="34" charset="0"/>
              </a:rPr>
              <a:t>'].sum()</a:t>
            </a:r>
          </a:p>
          <a:p>
            <a:endParaRPr lang="en-US">
              <a:latin typeface="Josefin Sans" pitchFamily="2" charset="0"/>
            </a:endParaRPr>
          </a:p>
        </p:txBody>
      </p:sp>
      <p:sp>
        <p:nvSpPr>
          <p:cNvPr id="31" name="TextBox 30">
            <a:extLst>
              <a:ext uri="{FF2B5EF4-FFF2-40B4-BE49-F238E27FC236}">
                <a16:creationId xmlns:a16="http://schemas.microsoft.com/office/drawing/2014/main" id="{833B8123-5996-21F1-7DE6-AB0BCAD57AC8}"/>
              </a:ext>
            </a:extLst>
          </p:cNvPr>
          <p:cNvSpPr txBox="1"/>
          <p:nvPr/>
        </p:nvSpPr>
        <p:spPr>
          <a:xfrm>
            <a:off x="226061" y="4298175"/>
            <a:ext cx="3454400" cy="738664"/>
          </a:xfrm>
          <a:prstGeom prst="rect">
            <a:avLst/>
          </a:prstGeom>
          <a:noFill/>
        </p:spPr>
        <p:txBody>
          <a:bodyPr wrap="square" rtlCol="0">
            <a:spAutoFit/>
          </a:bodyPr>
          <a:lstStyle/>
          <a:p>
            <a:r>
              <a:rPr lang="en-US" sz="1400">
                <a:latin typeface="Josefin Sans" pitchFamily="2" charset="0"/>
              </a:rPr>
              <a:t>Then, we extracted the trend using a 52-week rolling mean to capture the long-term sales movement.</a:t>
            </a:r>
          </a:p>
        </p:txBody>
      </p:sp>
      <p:sp>
        <p:nvSpPr>
          <p:cNvPr id="32" name="TextBox 31">
            <a:extLst>
              <a:ext uri="{FF2B5EF4-FFF2-40B4-BE49-F238E27FC236}">
                <a16:creationId xmlns:a16="http://schemas.microsoft.com/office/drawing/2014/main" id="{CB9B07C0-3D98-0EC0-55BA-E147FE4C67DC}"/>
              </a:ext>
            </a:extLst>
          </p:cNvPr>
          <p:cNvSpPr txBox="1"/>
          <p:nvPr/>
        </p:nvSpPr>
        <p:spPr>
          <a:xfrm>
            <a:off x="304799" y="5036839"/>
            <a:ext cx="3854995" cy="830997"/>
          </a:xfrm>
          <a:prstGeom prst="rect">
            <a:avLst/>
          </a:prstGeom>
          <a:noFill/>
        </p:spPr>
        <p:txBody>
          <a:bodyPr wrap="square" rtlCol="0">
            <a:spAutoFit/>
          </a:bodyPr>
          <a:lstStyle/>
          <a:p>
            <a:r>
              <a:rPr lang="en-US" sz="1600">
                <a:latin typeface="Calibri Light" panose="020F0302020204030204" pitchFamily="34" charset="0"/>
                <a:ea typeface="Calibri Light" panose="020F0302020204030204" pitchFamily="34" charset="0"/>
                <a:cs typeface="Calibri Light" panose="020F0302020204030204" pitchFamily="34" charset="0"/>
              </a:rPr>
              <a:t>trend =</a:t>
            </a:r>
          </a:p>
          <a:p>
            <a:r>
              <a:rPr lang="en-US" sz="1600" err="1">
                <a:latin typeface="Calibri Light" panose="020F0302020204030204" pitchFamily="34" charset="0"/>
                <a:ea typeface="Calibri Light" panose="020F0302020204030204" pitchFamily="34" charset="0"/>
                <a:cs typeface="Calibri Light" panose="020F0302020204030204" pitchFamily="34" charset="0"/>
              </a:rPr>
              <a:t>weekly_sales.rolling</a:t>
            </a:r>
            <a:r>
              <a:rPr lang="en-US" sz="1600">
                <a:latin typeface="Calibri Light" panose="020F0302020204030204" pitchFamily="34" charset="0"/>
                <a:ea typeface="Calibri Light" panose="020F0302020204030204" pitchFamily="34" charset="0"/>
                <a:cs typeface="Calibri Light" panose="020F0302020204030204" pitchFamily="34" charset="0"/>
              </a:rPr>
              <a:t>(window=52, center=True).mean()</a:t>
            </a:r>
          </a:p>
        </p:txBody>
      </p:sp>
      <p:sp>
        <p:nvSpPr>
          <p:cNvPr id="34" name="TextBox 33">
            <a:extLst>
              <a:ext uri="{FF2B5EF4-FFF2-40B4-BE49-F238E27FC236}">
                <a16:creationId xmlns:a16="http://schemas.microsoft.com/office/drawing/2014/main" id="{4BFFA4FE-A64D-DE23-DC4A-E6E951F2122F}"/>
              </a:ext>
            </a:extLst>
          </p:cNvPr>
          <p:cNvSpPr txBox="1"/>
          <p:nvPr/>
        </p:nvSpPr>
        <p:spPr>
          <a:xfrm>
            <a:off x="4381862" y="4225110"/>
            <a:ext cx="3854995" cy="1169551"/>
          </a:xfrm>
          <a:prstGeom prst="rect">
            <a:avLst/>
          </a:prstGeom>
          <a:noFill/>
        </p:spPr>
        <p:txBody>
          <a:bodyPr wrap="square" lIns="91440" tIns="45720" rIns="91440" bIns="45720" anchor="t">
            <a:spAutoFit/>
          </a:bodyPr>
          <a:lstStyle/>
          <a:p>
            <a:r>
              <a:rPr lang="en-US" sz="1400">
                <a:latin typeface="Josefin Sans" pitchFamily="2" charset="0"/>
              </a:rPr>
              <a:t>removed the trend from the original series to isolate seasonal effects. </a:t>
            </a:r>
          </a:p>
          <a:p>
            <a:r>
              <a:rPr lang="en-US" sz="1400">
                <a:latin typeface="Josefin Sans"/>
              </a:rPr>
              <a:t>Then calculated seasonality by averaging the </a:t>
            </a:r>
            <a:r>
              <a:rPr lang="en-US" sz="1400" b="1">
                <a:solidFill>
                  <a:schemeClr val="tx2">
                    <a:lumMod val="49000"/>
                    <a:lumOff val="51000"/>
                  </a:schemeClr>
                </a:solidFill>
                <a:latin typeface="Josefin Sans"/>
              </a:rPr>
              <a:t>detrended </a:t>
            </a:r>
            <a:r>
              <a:rPr lang="en-US" sz="1400">
                <a:latin typeface="Josefin Sans"/>
              </a:rPr>
              <a:t>values for each week of the year, capturing repeating annual patterns.</a:t>
            </a:r>
          </a:p>
        </p:txBody>
      </p:sp>
      <p:sp>
        <p:nvSpPr>
          <p:cNvPr id="39" name="TextBox 38">
            <a:extLst>
              <a:ext uri="{FF2B5EF4-FFF2-40B4-BE49-F238E27FC236}">
                <a16:creationId xmlns:a16="http://schemas.microsoft.com/office/drawing/2014/main" id="{51494EF8-BFC5-1CD0-724E-F720B646A033}"/>
              </a:ext>
            </a:extLst>
          </p:cNvPr>
          <p:cNvSpPr txBox="1"/>
          <p:nvPr/>
        </p:nvSpPr>
        <p:spPr>
          <a:xfrm>
            <a:off x="9144000" y="4442199"/>
            <a:ext cx="3157221" cy="307777"/>
          </a:xfrm>
          <a:prstGeom prst="rect">
            <a:avLst/>
          </a:prstGeom>
          <a:noFill/>
        </p:spPr>
        <p:txBody>
          <a:bodyPr wrap="square">
            <a:spAutoFit/>
          </a:bodyPr>
          <a:lstStyle/>
          <a:p>
            <a:r>
              <a:rPr lang="en-US" sz="1400">
                <a:latin typeface="Josefin Sans" pitchFamily="2" charset="0"/>
              </a:rPr>
              <a:t>residual = detrended - seasonality</a:t>
            </a:r>
          </a:p>
        </p:txBody>
      </p:sp>
    </p:spTree>
    <p:extLst>
      <p:ext uri="{BB962C8B-B14F-4D97-AF65-F5344CB8AC3E}">
        <p14:creationId xmlns:p14="http://schemas.microsoft.com/office/powerpoint/2010/main" val="66343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0C9EE-03FE-9B90-4E81-7BA4B7E0A846}"/>
              </a:ext>
            </a:extLst>
          </p:cNvPr>
          <p:cNvSpPr>
            <a:spLocks noGrp="1"/>
          </p:cNvSpPr>
          <p:nvPr>
            <p:ph type="title"/>
          </p:nvPr>
        </p:nvSpPr>
        <p:spPr>
          <a:xfrm>
            <a:off x="838200" y="395605"/>
            <a:ext cx="10515600" cy="1325563"/>
          </a:xfrm>
        </p:spPr>
        <p:txBody>
          <a:bodyPr>
            <a:normAutofit/>
          </a:bodyPr>
          <a:lstStyle/>
          <a:p>
            <a:r>
              <a:rPr lang="en-US" sz="4000">
                <a:latin typeface="Josefin Sans" pitchFamily="2" charset="0"/>
              </a:rPr>
              <a:t>Task 2.1: Advanced Data Analysis (overview)</a:t>
            </a:r>
            <a:br>
              <a:rPr lang="en-US" sz="4000">
                <a:latin typeface="Josefin Sans" pitchFamily="2" charset="0"/>
              </a:rPr>
            </a:br>
            <a:r>
              <a:rPr lang="en-US" sz="3200">
                <a:latin typeface="Josefin Sans" pitchFamily="2" charset="0"/>
              </a:rPr>
              <a:t>(trend / seasonality / residuals)</a:t>
            </a:r>
            <a:endParaRPr lang="en-US" sz="4000"/>
          </a:p>
        </p:txBody>
      </p:sp>
      <p:pic>
        <p:nvPicPr>
          <p:cNvPr id="5" name="Picture 4" descr="A graph of different colored lines&#10;&#10;AI-generated content may be incorrect.">
            <a:extLst>
              <a:ext uri="{FF2B5EF4-FFF2-40B4-BE49-F238E27FC236}">
                <a16:creationId xmlns:a16="http://schemas.microsoft.com/office/drawing/2014/main" id="{8B4BB5F8-AB67-F3B8-BB08-07D4FA5F3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250" y="2001557"/>
            <a:ext cx="7663500" cy="4856443"/>
          </a:xfrm>
          <a:prstGeom prst="rect">
            <a:avLst/>
          </a:prstGeom>
        </p:spPr>
      </p:pic>
    </p:spTree>
    <p:extLst>
      <p:ext uri="{BB962C8B-B14F-4D97-AF65-F5344CB8AC3E}">
        <p14:creationId xmlns:p14="http://schemas.microsoft.com/office/powerpoint/2010/main" val="3523719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FC669-B638-5DCA-5E64-DF75DFF1663C}"/>
              </a:ext>
            </a:extLst>
          </p:cNvPr>
          <p:cNvSpPr>
            <a:spLocks noGrp="1"/>
          </p:cNvSpPr>
          <p:nvPr>
            <p:ph type="title"/>
          </p:nvPr>
        </p:nvSpPr>
        <p:spPr/>
        <p:txBody>
          <a:bodyPr/>
          <a:lstStyle/>
          <a:p>
            <a:r>
              <a:rPr lang="en-US">
                <a:latin typeface="Josefin Sans" pitchFamily="2" charset="0"/>
              </a:rPr>
              <a:t>Stationarity (</a:t>
            </a:r>
            <a:r>
              <a:rPr lang="en-US" err="1">
                <a:latin typeface="Josefin Sans" pitchFamily="2" charset="0"/>
              </a:rPr>
              <a:t>ADF</a:t>
            </a:r>
            <a:r>
              <a:rPr lang="en-US">
                <a:latin typeface="Josefin Sans" pitchFamily="2" charset="0"/>
              </a:rPr>
              <a:t> results)</a:t>
            </a:r>
          </a:p>
        </p:txBody>
      </p:sp>
      <p:sp>
        <p:nvSpPr>
          <p:cNvPr id="4" name="TextBox 3">
            <a:extLst>
              <a:ext uri="{FF2B5EF4-FFF2-40B4-BE49-F238E27FC236}">
                <a16:creationId xmlns:a16="http://schemas.microsoft.com/office/drawing/2014/main" id="{1FEC9355-4F4D-721A-47B5-7B2B39BCAE0D}"/>
              </a:ext>
            </a:extLst>
          </p:cNvPr>
          <p:cNvSpPr txBox="1"/>
          <p:nvPr/>
        </p:nvSpPr>
        <p:spPr>
          <a:xfrm>
            <a:off x="766915" y="1690688"/>
            <a:ext cx="10825317" cy="707886"/>
          </a:xfrm>
          <a:prstGeom prst="rect">
            <a:avLst/>
          </a:prstGeom>
          <a:noFill/>
        </p:spPr>
        <p:txBody>
          <a:bodyPr wrap="square" rtlCol="0">
            <a:spAutoFit/>
          </a:bodyPr>
          <a:lstStyle/>
          <a:p>
            <a:r>
              <a:rPr lang="en-US" sz="2000" err="1">
                <a:latin typeface="Josefin Sans" pitchFamily="2" charset="0"/>
              </a:rPr>
              <a:t>ADF</a:t>
            </a:r>
            <a:r>
              <a:rPr lang="en-US" sz="2000">
                <a:latin typeface="Josefin Sans" pitchFamily="2" charset="0"/>
              </a:rPr>
              <a:t> tests show the sales series is non-stationary (p-value &gt; 0.05), so differencing is required for ARIMA-type models to make the series stationary.</a:t>
            </a:r>
          </a:p>
        </p:txBody>
      </p:sp>
      <p:pic>
        <p:nvPicPr>
          <p:cNvPr id="6" name="Picture 5" descr="A computer screen shot of numbers and letters&#10;&#10;AI-generated content may be incorrect.">
            <a:extLst>
              <a:ext uri="{FF2B5EF4-FFF2-40B4-BE49-F238E27FC236}">
                <a16:creationId xmlns:a16="http://schemas.microsoft.com/office/drawing/2014/main" id="{C6DB79F2-B6C1-D096-C024-E8200A495529}"/>
              </a:ext>
            </a:extLst>
          </p:cNvPr>
          <p:cNvPicPr>
            <a:picLocks noChangeAspect="1"/>
          </p:cNvPicPr>
          <p:nvPr/>
        </p:nvPicPr>
        <p:blipFill>
          <a:blip r:embed="rId2"/>
          <a:stretch>
            <a:fillRect/>
          </a:stretch>
        </p:blipFill>
        <p:spPr>
          <a:xfrm>
            <a:off x="5692878" y="2693085"/>
            <a:ext cx="6499122" cy="2223853"/>
          </a:xfrm>
          <a:prstGeom prst="rect">
            <a:avLst/>
          </a:prstGeom>
        </p:spPr>
      </p:pic>
      <p:sp>
        <p:nvSpPr>
          <p:cNvPr id="8" name="TextBox 7">
            <a:extLst>
              <a:ext uri="{FF2B5EF4-FFF2-40B4-BE49-F238E27FC236}">
                <a16:creationId xmlns:a16="http://schemas.microsoft.com/office/drawing/2014/main" id="{F08A2A3E-BAB0-AE02-6573-9FDF177B3353}"/>
              </a:ext>
            </a:extLst>
          </p:cNvPr>
          <p:cNvSpPr txBox="1"/>
          <p:nvPr/>
        </p:nvSpPr>
        <p:spPr>
          <a:xfrm>
            <a:off x="137652" y="2693085"/>
            <a:ext cx="6096000" cy="646331"/>
          </a:xfrm>
          <a:prstGeom prst="rect">
            <a:avLst/>
          </a:prstGeom>
          <a:noFill/>
        </p:spPr>
        <p:txBody>
          <a:bodyPr wrap="square">
            <a:spAutoFit/>
          </a:bodyPr>
          <a:lstStyle/>
          <a:p>
            <a:pPr>
              <a:buNone/>
            </a:pPr>
            <a:r>
              <a:rPr lang="en-US" b="1" err="1">
                <a:latin typeface="Josefin Sans" pitchFamily="2" charset="0"/>
              </a:rPr>
              <a:t>ADF</a:t>
            </a:r>
            <a:r>
              <a:rPr lang="en-US" b="1">
                <a:latin typeface="Josefin Sans" pitchFamily="2" charset="0"/>
              </a:rPr>
              <a:t> basically answers:</a:t>
            </a:r>
            <a:br>
              <a:rPr lang="en-US">
                <a:latin typeface="Josefin Sans" pitchFamily="2" charset="0"/>
              </a:rPr>
            </a:br>
            <a:r>
              <a:rPr lang="en-US" i="1">
                <a:latin typeface="Josefin Sans" pitchFamily="2" charset="0"/>
              </a:rPr>
              <a:t>“Does this data have a trend or not?”</a:t>
            </a:r>
            <a:endParaRPr lang="en-US">
              <a:latin typeface="Josefin Sans" pitchFamily="2" charset="0"/>
            </a:endParaRPr>
          </a:p>
        </p:txBody>
      </p:sp>
      <p:sp>
        <p:nvSpPr>
          <p:cNvPr id="9" name="TextBox 8">
            <a:extLst>
              <a:ext uri="{FF2B5EF4-FFF2-40B4-BE49-F238E27FC236}">
                <a16:creationId xmlns:a16="http://schemas.microsoft.com/office/drawing/2014/main" id="{A59F3438-0F6E-5458-6A9F-B8193E4F4AC2}"/>
              </a:ext>
            </a:extLst>
          </p:cNvPr>
          <p:cNvSpPr txBox="1"/>
          <p:nvPr/>
        </p:nvSpPr>
        <p:spPr>
          <a:xfrm>
            <a:off x="137652" y="3633927"/>
            <a:ext cx="5407742" cy="1200329"/>
          </a:xfrm>
          <a:prstGeom prst="rect">
            <a:avLst/>
          </a:prstGeom>
          <a:noFill/>
        </p:spPr>
        <p:txBody>
          <a:bodyPr wrap="square">
            <a:spAutoFit/>
          </a:bodyPr>
          <a:lstStyle/>
          <a:p>
            <a:pPr>
              <a:buNone/>
            </a:pPr>
            <a:r>
              <a:rPr lang="en-US" b="1">
                <a:latin typeface="Josefin Sans" pitchFamily="2" charset="0"/>
              </a:rPr>
              <a:t>The p-value tells you if the </a:t>
            </a:r>
            <a:r>
              <a:rPr lang="en-US" b="1" err="1">
                <a:latin typeface="Josefin Sans" pitchFamily="2" charset="0"/>
              </a:rPr>
              <a:t>ADF</a:t>
            </a:r>
            <a:r>
              <a:rPr lang="en-US" b="1">
                <a:latin typeface="Josefin Sans" pitchFamily="2" charset="0"/>
              </a:rPr>
              <a:t> test result is significant or not.</a:t>
            </a:r>
          </a:p>
          <a:p>
            <a:pPr>
              <a:buNone/>
            </a:pPr>
            <a:r>
              <a:rPr lang="en-US">
                <a:latin typeface="Josefin Sans" pitchFamily="2" charset="0"/>
              </a:rPr>
              <a:t>p-value &gt; 0.05 → the sales data is non-stationary.</a:t>
            </a:r>
            <a:endParaRPr lang="en-US" b="1">
              <a:latin typeface="Josefin Sans" pitchFamily="2" charset="0"/>
            </a:endParaRPr>
          </a:p>
          <a:p>
            <a:pPr>
              <a:buNone/>
            </a:pPr>
            <a:endParaRPr lang="en-US" b="1">
              <a:latin typeface="Josefin Sans" pitchFamily="2" charset="0"/>
            </a:endParaRPr>
          </a:p>
        </p:txBody>
      </p:sp>
    </p:spTree>
    <p:extLst>
      <p:ext uri="{BB962C8B-B14F-4D97-AF65-F5344CB8AC3E}">
        <p14:creationId xmlns:p14="http://schemas.microsoft.com/office/powerpoint/2010/main" val="258961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8246B-C4C2-291A-4443-390AEB73E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8723A-2ED1-6C72-FEEC-A7FC89A9ED48}"/>
              </a:ext>
            </a:extLst>
          </p:cNvPr>
          <p:cNvSpPr>
            <a:spLocks noGrp="1"/>
          </p:cNvSpPr>
          <p:nvPr>
            <p:ph type="title"/>
          </p:nvPr>
        </p:nvSpPr>
        <p:spPr/>
        <p:txBody>
          <a:bodyPr/>
          <a:lstStyle/>
          <a:p>
            <a:r>
              <a:rPr lang="en-US">
                <a:latin typeface="Josefin Sans" pitchFamily="2" charset="0"/>
              </a:rPr>
              <a:t>What Is ARIMA </a:t>
            </a:r>
            <a:r>
              <a:rPr lang="en-US" sz="2400">
                <a:latin typeface="Josefin Sans" pitchFamily="2" charset="0"/>
              </a:rPr>
              <a:t>(as we are preparing for forecasting)</a:t>
            </a:r>
            <a:endParaRPr lang="en-US">
              <a:latin typeface="Josefin Sans" pitchFamily="2" charset="0"/>
            </a:endParaRPr>
          </a:p>
        </p:txBody>
      </p:sp>
      <p:sp>
        <p:nvSpPr>
          <p:cNvPr id="3" name="TextBox 2">
            <a:extLst>
              <a:ext uri="{FF2B5EF4-FFF2-40B4-BE49-F238E27FC236}">
                <a16:creationId xmlns:a16="http://schemas.microsoft.com/office/drawing/2014/main" id="{018F7B9A-789A-B809-1E51-E2B5639DC1C6}"/>
              </a:ext>
            </a:extLst>
          </p:cNvPr>
          <p:cNvSpPr txBox="1"/>
          <p:nvPr/>
        </p:nvSpPr>
        <p:spPr>
          <a:xfrm>
            <a:off x="916858" y="1991453"/>
            <a:ext cx="9527458" cy="1938992"/>
          </a:xfrm>
          <a:prstGeom prst="rect">
            <a:avLst/>
          </a:prstGeom>
          <a:noFill/>
        </p:spPr>
        <p:txBody>
          <a:bodyPr wrap="square" rtlCol="0">
            <a:spAutoFit/>
          </a:bodyPr>
          <a:lstStyle/>
          <a:p>
            <a:r>
              <a:rPr lang="en-US" sz="2400">
                <a:latin typeface="Josefin Sans" pitchFamily="2" charset="0"/>
              </a:rPr>
              <a:t>A = Auto</a:t>
            </a:r>
          </a:p>
          <a:p>
            <a:r>
              <a:rPr lang="en-US" sz="2400">
                <a:latin typeface="Josefin Sans" pitchFamily="2" charset="0"/>
              </a:rPr>
              <a:t>R = Regressive (uses past values)</a:t>
            </a:r>
          </a:p>
          <a:p>
            <a:r>
              <a:rPr lang="en-US" sz="2400">
                <a:latin typeface="Josefin Sans" pitchFamily="2" charset="0"/>
              </a:rPr>
              <a:t>I = Integrated (this means differencing to remove trends)</a:t>
            </a:r>
          </a:p>
          <a:p>
            <a:r>
              <a:rPr lang="en-US" sz="2400">
                <a:latin typeface="Josefin Sans" pitchFamily="2" charset="0"/>
              </a:rPr>
              <a:t>MA = Moving Average (uses past errors)</a:t>
            </a:r>
          </a:p>
          <a:p>
            <a:endParaRPr lang="en-US" sz="2400">
              <a:latin typeface="Josefin Sans" pitchFamily="2" charset="0"/>
            </a:endParaRPr>
          </a:p>
        </p:txBody>
      </p:sp>
      <p:sp>
        <p:nvSpPr>
          <p:cNvPr id="11" name="TextBox 10">
            <a:extLst>
              <a:ext uri="{FF2B5EF4-FFF2-40B4-BE49-F238E27FC236}">
                <a16:creationId xmlns:a16="http://schemas.microsoft.com/office/drawing/2014/main" id="{446F509E-BB52-A4B9-FD81-AC279634EBBF}"/>
              </a:ext>
            </a:extLst>
          </p:cNvPr>
          <p:cNvSpPr txBox="1"/>
          <p:nvPr/>
        </p:nvSpPr>
        <p:spPr>
          <a:xfrm>
            <a:off x="1120877" y="3745779"/>
            <a:ext cx="6096000" cy="369332"/>
          </a:xfrm>
          <a:prstGeom prst="rect">
            <a:avLst/>
          </a:prstGeom>
          <a:noFill/>
        </p:spPr>
        <p:txBody>
          <a:bodyPr wrap="square">
            <a:spAutoFit/>
          </a:bodyPr>
          <a:lstStyle/>
          <a:p>
            <a:r>
              <a:rPr lang="en-US">
                <a:solidFill>
                  <a:schemeClr val="accent1"/>
                </a:solidFill>
                <a:latin typeface="Josefin Sans" pitchFamily="2" charset="0"/>
              </a:rPr>
              <a:t>And these models </a:t>
            </a:r>
            <a:r>
              <a:rPr lang="en-US" b="1">
                <a:solidFill>
                  <a:schemeClr val="accent1"/>
                </a:solidFill>
                <a:latin typeface="Josefin Sans" pitchFamily="2" charset="0"/>
              </a:rPr>
              <a:t>require the data to be stationary</a:t>
            </a:r>
            <a:r>
              <a:rPr lang="en-US">
                <a:solidFill>
                  <a:schemeClr val="accent1"/>
                </a:solidFill>
                <a:latin typeface="Josefin Sans" pitchFamily="2" charset="0"/>
              </a:rPr>
              <a:t>.</a:t>
            </a:r>
          </a:p>
        </p:txBody>
      </p:sp>
      <p:sp>
        <p:nvSpPr>
          <p:cNvPr id="13" name="TextBox 12">
            <a:extLst>
              <a:ext uri="{FF2B5EF4-FFF2-40B4-BE49-F238E27FC236}">
                <a16:creationId xmlns:a16="http://schemas.microsoft.com/office/drawing/2014/main" id="{BD85D335-3023-2415-1608-EE19A7065883}"/>
              </a:ext>
            </a:extLst>
          </p:cNvPr>
          <p:cNvSpPr txBox="1"/>
          <p:nvPr/>
        </p:nvSpPr>
        <p:spPr>
          <a:xfrm>
            <a:off x="1811593" y="4669108"/>
            <a:ext cx="7737987"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a:latin typeface="Josefin Sans" pitchFamily="2" charset="0"/>
              </a:rPr>
              <a:t>So if </a:t>
            </a:r>
            <a:r>
              <a:rPr lang="en-US" err="1">
                <a:latin typeface="Josefin Sans" pitchFamily="2" charset="0"/>
              </a:rPr>
              <a:t>ADF</a:t>
            </a:r>
            <a:r>
              <a:rPr lang="en-US">
                <a:latin typeface="Josefin Sans" pitchFamily="2" charset="0"/>
              </a:rPr>
              <a:t> shows non-stationarity (p &gt; 0.05), we must use: </a:t>
            </a:r>
            <a:r>
              <a:rPr lang="en-US" b="1">
                <a:latin typeface="Josefin Sans" pitchFamily="2" charset="0"/>
              </a:rPr>
              <a:t>Differencing</a:t>
            </a:r>
            <a:br>
              <a:rPr lang="en-US">
                <a:latin typeface="Josefin Sans" pitchFamily="2" charset="0"/>
              </a:rPr>
            </a:br>
            <a:r>
              <a:rPr lang="en-US">
                <a:latin typeface="Josefin Sans" pitchFamily="2" charset="0"/>
              </a:rPr>
              <a:t>Example:</a:t>
            </a:r>
            <a:br>
              <a:rPr lang="en-US">
                <a:latin typeface="Josefin Sans" pitchFamily="2" charset="0"/>
              </a:rPr>
            </a:br>
            <a:r>
              <a:rPr lang="en-US" err="1">
                <a:latin typeface="Josefin Sans" pitchFamily="2" charset="0"/>
              </a:rPr>
              <a:t>y_diff</a:t>
            </a:r>
            <a:r>
              <a:rPr lang="en-US">
                <a:latin typeface="Josefin Sans" pitchFamily="2" charset="0"/>
              </a:rPr>
              <a:t> = y(t) - y(t-1)</a:t>
            </a:r>
          </a:p>
          <a:p>
            <a:pPr>
              <a:buNone/>
            </a:pPr>
            <a:r>
              <a:rPr lang="en-US">
                <a:latin typeface="Josefin Sans" pitchFamily="2" charset="0"/>
              </a:rPr>
              <a:t>This removes the trend and makes the series stationary.</a:t>
            </a:r>
          </a:p>
        </p:txBody>
      </p:sp>
    </p:spTree>
    <p:extLst>
      <p:ext uri="{BB962C8B-B14F-4D97-AF65-F5344CB8AC3E}">
        <p14:creationId xmlns:p14="http://schemas.microsoft.com/office/powerpoint/2010/main" val="165614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67594-6CBA-E9FD-702D-3C97A3E67DC5}"/>
              </a:ext>
            </a:extLst>
          </p:cNvPr>
          <p:cNvSpPr>
            <a:spLocks noGrp="1"/>
          </p:cNvSpPr>
          <p:nvPr>
            <p:ph type="title"/>
          </p:nvPr>
        </p:nvSpPr>
        <p:spPr>
          <a:xfrm>
            <a:off x="-1" y="0"/>
            <a:ext cx="9832259" cy="1325563"/>
          </a:xfrm>
        </p:spPr>
        <p:txBody>
          <a:bodyPr>
            <a:normAutofit/>
          </a:bodyPr>
          <a:lstStyle/>
          <a:p>
            <a:r>
              <a:rPr lang="en-US">
                <a:latin typeface="Josefin Sans" pitchFamily="2" charset="0"/>
              </a:rPr>
              <a:t>Correlation Analysis (heatmap)</a:t>
            </a:r>
          </a:p>
        </p:txBody>
      </p:sp>
      <p:pic>
        <p:nvPicPr>
          <p:cNvPr id="7" name="Picture 6" descr="A screenshot of a computer&#10;&#10;AI-generated content may be incorrect.">
            <a:extLst>
              <a:ext uri="{FF2B5EF4-FFF2-40B4-BE49-F238E27FC236}">
                <a16:creationId xmlns:a16="http://schemas.microsoft.com/office/drawing/2014/main" id="{C2F9D393-C5A4-B62C-82D2-ABC84AB51BEF}"/>
              </a:ext>
            </a:extLst>
          </p:cNvPr>
          <p:cNvPicPr>
            <a:picLocks noChangeAspect="1"/>
          </p:cNvPicPr>
          <p:nvPr/>
        </p:nvPicPr>
        <p:blipFill>
          <a:blip r:embed="rId2"/>
          <a:stretch>
            <a:fillRect/>
          </a:stretch>
        </p:blipFill>
        <p:spPr>
          <a:xfrm>
            <a:off x="511277" y="2050513"/>
            <a:ext cx="11169445" cy="4896381"/>
          </a:xfrm>
          <a:prstGeom prst="rect">
            <a:avLst/>
          </a:prstGeom>
        </p:spPr>
      </p:pic>
      <p:sp>
        <p:nvSpPr>
          <p:cNvPr id="8" name="Rectangle 7">
            <a:extLst>
              <a:ext uri="{FF2B5EF4-FFF2-40B4-BE49-F238E27FC236}">
                <a16:creationId xmlns:a16="http://schemas.microsoft.com/office/drawing/2014/main" id="{37F4306F-0E69-3F5C-1FD0-12ED0DF48513}"/>
              </a:ext>
            </a:extLst>
          </p:cNvPr>
          <p:cNvSpPr/>
          <p:nvPr/>
        </p:nvSpPr>
        <p:spPr>
          <a:xfrm>
            <a:off x="1386349" y="6400800"/>
            <a:ext cx="1297858" cy="383458"/>
          </a:xfrm>
          <a:prstGeom prst="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5E025B3B-D7F0-D0D9-2260-21F360B120E6}"/>
              </a:ext>
            </a:extLst>
          </p:cNvPr>
          <p:cNvSpPr txBox="1"/>
          <p:nvPr/>
        </p:nvSpPr>
        <p:spPr>
          <a:xfrm>
            <a:off x="412955" y="1105727"/>
            <a:ext cx="11356258" cy="646331"/>
          </a:xfrm>
          <a:prstGeom prst="rect">
            <a:avLst/>
          </a:prstGeom>
          <a:noFill/>
        </p:spPr>
        <p:txBody>
          <a:bodyPr wrap="square" rtlCol="0">
            <a:spAutoFit/>
          </a:bodyPr>
          <a:lstStyle/>
          <a:p>
            <a:r>
              <a:rPr lang="en-US">
                <a:latin typeface="Josefin Sans" pitchFamily="2" charset="0"/>
              </a:rPr>
              <a:t>Correlation analysis confirms that lag and rolling features dominate; the heatmap highlights which engineered features align most strongly with </a:t>
            </a:r>
            <a:r>
              <a:rPr lang="en-US" err="1">
                <a:latin typeface="Josefin Sans" pitchFamily="2" charset="0"/>
              </a:rPr>
              <a:t>Weekly_Sales</a:t>
            </a:r>
            <a:r>
              <a:rPr lang="en-US">
                <a:latin typeface="Josefin Sans" pitchFamily="2" charset="0"/>
              </a:rPr>
              <a:t>.</a:t>
            </a:r>
          </a:p>
        </p:txBody>
      </p:sp>
    </p:spTree>
    <p:extLst>
      <p:ext uri="{BB962C8B-B14F-4D97-AF65-F5344CB8AC3E}">
        <p14:creationId xmlns:p14="http://schemas.microsoft.com/office/powerpoint/2010/main" val="1226706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00638-8A04-D0C4-D446-7099D8771C73}"/>
            </a:ext>
          </a:extLst>
        </p:cNvPr>
        <p:cNvGrpSpPr/>
        <p:nvPr/>
      </p:nvGrpSpPr>
      <p:grpSpPr>
        <a:xfrm>
          <a:off x="0" y="0"/>
          <a:ext cx="0" cy="0"/>
          <a:chOff x="0" y="0"/>
          <a:chExt cx="0" cy="0"/>
        </a:xfrm>
      </p:grpSpPr>
      <p:pic>
        <p:nvPicPr>
          <p:cNvPr id="4" name="Picture 3" descr="A chart with red and brown squares&#10;&#10;AI-generated content may be incorrect.">
            <a:extLst>
              <a:ext uri="{FF2B5EF4-FFF2-40B4-BE49-F238E27FC236}">
                <a16:creationId xmlns:a16="http://schemas.microsoft.com/office/drawing/2014/main" id="{E3730BF2-3486-5C1A-DDE7-B76A129D7B58}"/>
              </a:ext>
            </a:extLst>
          </p:cNvPr>
          <p:cNvPicPr>
            <a:picLocks noChangeAspect="1"/>
          </p:cNvPicPr>
          <p:nvPr/>
        </p:nvPicPr>
        <p:blipFill>
          <a:blip r:embed="rId2"/>
          <a:stretch>
            <a:fillRect/>
          </a:stretch>
        </p:blipFill>
        <p:spPr>
          <a:xfrm>
            <a:off x="2500312" y="61912"/>
            <a:ext cx="7191375" cy="6734175"/>
          </a:xfrm>
          <a:prstGeom prst="rect">
            <a:avLst/>
          </a:prstGeom>
        </p:spPr>
      </p:pic>
    </p:spTree>
    <p:extLst>
      <p:ext uri="{BB962C8B-B14F-4D97-AF65-F5344CB8AC3E}">
        <p14:creationId xmlns:p14="http://schemas.microsoft.com/office/powerpoint/2010/main" val="22361534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hart with red and brown squares&#10;&#10;AI-generated content may be incorrect.">
            <a:extLst>
              <a:ext uri="{FF2B5EF4-FFF2-40B4-BE49-F238E27FC236}">
                <a16:creationId xmlns:a16="http://schemas.microsoft.com/office/drawing/2014/main" id="{19E4AE09-52DF-1336-5D26-60DD24A9CC5E}"/>
              </a:ext>
            </a:extLst>
          </p:cNvPr>
          <p:cNvPicPr>
            <a:picLocks noChangeAspect="1"/>
          </p:cNvPicPr>
          <p:nvPr/>
        </p:nvPicPr>
        <p:blipFill>
          <a:blip r:embed="rId2"/>
          <a:stretch>
            <a:fillRect/>
          </a:stretch>
        </p:blipFill>
        <p:spPr>
          <a:xfrm>
            <a:off x="4630562" y="123825"/>
            <a:ext cx="7191375" cy="6734175"/>
          </a:xfrm>
          <a:prstGeom prst="rect">
            <a:avLst/>
          </a:prstGeom>
        </p:spPr>
      </p:pic>
      <p:sp>
        <p:nvSpPr>
          <p:cNvPr id="2" name="Title 1">
            <a:extLst>
              <a:ext uri="{FF2B5EF4-FFF2-40B4-BE49-F238E27FC236}">
                <a16:creationId xmlns:a16="http://schemas.microsoft.com/office/drawing/2014/main" id="{540BC6D7-F3D6-787A-0E87-454410294A34}"/>
              </a:ext>
            </a:extLst>
          </p:cNvPr>
          <p:cNvSpPr>
            <a:spLocks noGrp="1"/>
          </p:cNvSpPr>
          <p:nvPr>
            <p:ph type="title"/>
          </p:nvPr>
        </p:nvSpPr>
        <p:spPr>
          <a:xfrm>
            <a:off x="0" y="0"/>
            <a:ext cx="8347587" cy="490282"/>
          </a:xfrm>
        </p:spPr>
        <p:txBody>
          <a:bodyPr>
            <a:normAutofit/>
          </a:bodyPr>
          <a:lstStyle/>
          <a:p>
            <a:r>
              <a:rPr lang="en-US" sz="2800">
                <a:latin typeface="Josefin Sans" pitchFamily="2" charset="0"/>
              </a:rPr>
              <a:t>Top Correlated Features (numbers)</a:t>
            </a:r>
          </a:p>
        </p:txBody>
      </p:sp>
      <p:sp>
        <p:nvSpPr>
          <p:cNvPr id="5" name="Oval 4">
            <a:extLst>
              <a:ext uri="{FF2B5EF4-FFF2-40B4-BE49-F238E27FC236}">
                <a16:creationId xmlns:a16="http://schemas.microsoft.com/office/drawing/2014/main" id="{3B077A80-FA73-5135-8413-6C4C89E9B63D}"/>
              </a:ext>
            </a:extLst>
          </p:cNvPr>
          <p:cNvSpPr/>
          <p:nvPr/>
        </p:nvSpPr>
        <p:spPr>
          <a:xfrm>
            <a:off x="5584722" y="361741"/>
            <a:ext cx="1140543" cy="1113098"/>
          </a:xfrm>
          <a:prstGeom prst="ellipse">
            <a:avLst/>
          </a:prstGeom>
          <a:noFill/>
          <a:ln>
            <a:solidFill>
              <a:schemeClr val="accent3">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0FE7D9B3-3337-DF68-69A1-BEBA44343418}"/>
              </a:ext>
            </a:extLst>
          </p:cNvPr>
          <p:cNvSpPr txBox="1"/>
          <p:nvPr/>
        </p:nvSpPr>
        <p:spPr>
          <a:xfrm>
            <a:off x="255639" y="614107"/>
            <a:ext cx="4374923" cy="1477328"/>
          </a:xfrm>
          <a:prstGeom prst="rect">
            <a:avLst/>
          </a:prstGeom>
          <a:noFill/>
        </p:spPr>
        <p:txBody>
          <a:bodyPr wrap="square" rtlCol="0">
            <a:spAutoFit/>
          </a:bodyPr>
          <a:lstStyle/>
          <a:p>
            <a:r>
              <a:rPr lang="en-US">
                <a:solidFill>
                  <a:schemeClr val="accent3"/>
                </a:solidFill>
                <a:latin typeface="Josefin Sans" pitchFamily="2" charset="0"/>
              </a:rPr>
              <a:t>The 4-week rolling average has the strongest correlation with weekly sales.</a:t>
            </a:r>
            <a:br>
              <a:rPr lang="en-US">
                <a:solidFill>
                  <a:schemeClr val="accent3"/>
                </a:solidFill>
                <a:latin typeface="Josefin Sans" pitchFamily="2" charset="0"/>
              </a:rPr>
            </a:br>
            <a:r>
              <a:rPr lang="en-US">
                <a:solidFill>
                  <a:schemeClr val="accent3"/>
                </a:solidFill>
                <a:latin typeface="Josefin Sans" pitchFamily="2" charset="0"/>
              </a:rPr>
              <a:t>This tells us that recent short-term trends are the most powerful predictor of next week’s sales.</a:t>
            </a:r>
          </a:p>
        </p:txBody>
      </p:sp>
      <p:sp>
        <p:nvSpPr>
          <p:cNvPr id="11" name="Oval 10">
            <a:extLst>
              <a:ext uri="{FF2B5EF4-FFF2-40B4-BE49-F238E27FC236}">
                <a16:creationId xmlns:a16="http://schemas.microsoft.com/office/drawing/2014/main" id="{A369C8AB-2268-9ED6-DCF9-CE86320CCF46}"/>
              </a:ext>
            </a:extLst>
          </p:cNvPr>
          <p:cNvSpPr/>
          <p:nvPr/>
        </p:nvSpPr>
        <p:spPr>
          <a:xfrm>
            <a:off x="5933767" y="1156206"/>
            <a:ext cx="1140543" cy="1113098"/>
          </a:xfrm>
          <a:prstGeom prst="ellipse">
            <a:avLst/>
          </a:prstGeom>
          <a:noFill/>
          <a:ln>
            <a:solidFill>
              <a:srgbClr val="FFFF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05596FB9-DE70-33FC-4AA0-7928807D748D}"/>
              </a:ext>
            </a:extLst>
          </p:cNvPr>
          <p:cNvSpPr txBox="1"/>
          <p:nvPr/>
        </p:nvSpPr>
        <p:spPr>
          <a:xfrm>
            <a:off x="255639" y="2269304"/>
            <a:ext cx="4374923" cy="1477328"/>
          </a:xfrm>
          <a:prstGeom prst="rect">
            <a:avLst/>
          </a:prstGeom>
          <a:noFill/>
        </p:spPr>
        <p:txBody>
          <a:bodyPr wrap="square" rtlCol="0">
            <a:spAutoFit/>
          </a:bodyPr>
          <a:lstStyle/>
          <a:p>
            <a:r>
              <a:rPr lang="en-US">
                <a:solidFill>
                  <a:srgbClr val="FFC000"/>
                </a:solidFill>
                <a:latin typeface="Josefin Sans" pitchFamily="2" charset="0"/>
              </a:rPr>
              <a:t>The 8-week rolling average is also extremely strong. This means the model benefits from understanding medium-term sales patterns, not just the last few weeks.</a:t>
            </a:r>
          </a:p>
        </p:txBody>
      </p:sp>
      <p:sp>
        <p:nvSpPr>
          <p:cNvPr id="14" name="TextBox 13">
            <a:extLst>
              <a:ext uri="{FF2B5EF4-FFF2-40B4-BE49-F238E27FC236}">
                <a16:creationId xmlns:a16="http://schemas.microsoft.com/office/drawing/2014/main" id="{39D7BAEF-62A3-C913-615E-2CB176DF38FF}"/>
              </a:ext>
            </a:extLst>
          </p:cNvPr>
          <p:cNvSpPr txBox="1"/>
          <p:nvPr/>
        </p:nvSpPr>
        <p:spPr>
          <a:xfrm>
            <a:off x="255638" y="3824988"/>
            <a:ext cx="4374923" cy="1477328"/>
          </a:xfrm>
          <a:prstGeom prst="rect">
            <a:avLst/>
          </a:prstGeom>
          <a:noFill/>
        </p:spPr>
        <p:txBody>
          <a:bodyPr wrap="square">
            <a:spAutoFit/>
          </a:bodyPr>
          <a:lstStyle/>
          <a:p>
            <a:r>
              <a:rPr lang="en-US">
                <a:solidFill>
                  <a:schemeClr val="tx2">
                    <a:lumMod val="50000"/>
                    <a:lumOff val="50000"/>
                  </a:schemeClr>
                </a:solidFill>
              </a:rPr>
              <a:t>Recent past sales , especially 1-week, 2-week, and 4-week lags , all show very strong correlations, confirming that weekly sales strongly depend on short-term history and recurring monthly patterns.</a:t>
            </a:r>
          </a:p>
        </p:txBody>
      </p:sp>
      <p:sp>
        <p:nvSpPr>
          <p:cNvPr id="15" name="Oval 14">
            <a:extLst>
              <a:ext uri="{FF2B5EF4-FFF2-40B4-BE49-F238E27FC236}">
                <a16:creationId xmlns:a16="http://schemas.microsoft.com/office/drawing/2014/main" id="{B61D37AA-B607-03F6-840F-AC9C772A6B9B}"/>
              </a:ext>
            </a:extLst>
          </p:cNvPr>
          <p:cNvSpPr/>
          <p:nvPr/>
        </p:nvSpPr>
        <p:spPr>
          <a:xfrm>
            <a:off x="6971282" y="1708150"/>
            <a:ext cx="1919779" cy="1782762"/>
          </a:xfrm>
          <a:prstGeom prst="ellipse">
            <a:avLst/>
          </a:prstGeom>
          <a:noFill/>
          <a:ln>
            <a:solidFill>
              <a:schemeClr val="tx2">
                <a:lumMod val="75000"/>
                <a:lumOff val="2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24734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E475-7D67-933C-A59E-0FC7F94BE60E}"/>
              </a:ext>
            </a:extLst>
          </p:cNvPr>
          <p:cNvSpPr>
            <a:spLocks noGrp="1"/>
          </p:cNvSpPr>
          <p:nvPr>
            <p:ph type="title"/>
          </p:nvPr>
        </p:nvSpPr>
        <p:spPr>
          <a:xfrm>
            <a:off x="838200" y="217641"/>
            <a:ext cx="10515600" cy="1325563"/>
          </a:xfrm>
        </p:spPr>
        <p:txBody>
          <a:bodyPr/>
          <a:lstStyle/>
          <a:p>
            <a:r>
              <a:rPr lang="en-US">
                <a:latin typeface="Josefin Sans" pitchFamily="2" charset="0"/>
              </a:rPr>
              <a:t>Holiday Impact Analysis</a:t>
            </a:r>
          </a:p>
        </p:txBody>
      </p:sp>
      <p:pic>
        <p:nvPicPr>
          <p:cNvPr id="5" name="Picture 4" descr="A graph of sales and a bar chart&#10;&#10;AI-generated content may be incorrect.">
            <a:extLst>
              <a:ext uri="{FF2B5EF4-FFF2-40B4-BE49-F238E27FC236}">
                <a16:creationId xmlns:a16="http://schemas.microsoft.com/office/drawing/2014/main" id="{D5D7AE01-316C-EF82-F34E-3F67ACB93C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0688"/>
            <a:ext cx="12192000" cy="4213071"/>
          </a:xfrm>
          <a:prstGeom prst="rect">
            <a:avLst/>
          </a:prstGeom>
        </p:spPr>
      </p:pic>
      <p:sp>
        <p:nvSpPr>
          <p:cNvPr id="7" name="TextBox 6">
            <a:extLst>
              <a:ext uri="{FF2B5EF4-FFF2-40B4-BE49-F238E27FC236}">
                <a16:creationId xmlns:a16="http://schemas.microsoft.com/office/drawing/2014/main" id="{D03C32D7-EF8C-8D86-95C6-CF4A9ED24D39}"/>
              </a:ext>
            </a:extLst>
          </p:cNvPr>
          <p:cNvSpPr txBox="1"/>
          <p:nvPr/>
        </p:nvSpPr>
        <p:spPr>
          <a:xfrm>
            <a:off x="314632" y="5994028"/>
            <a:ext cx="11877368" cy="646331"/>
          </a:xfrm>
          <a:prstGeom prst="rect">
            <a:avLst/>
          </a:prstGeom>
          <a:noFill/>
        </p:spPr>
        <p:txBody>
          <a:bodyPr wrap="square">
            <a:spAutoFit/>
          </a:bodyPr>
          <a:lstStyle/>
          <a:p>
            <a:r>
              <a:rPr lang="en-US"/>
              <a:t>Holidays increase average sales by +7.13% and increase volatility by +21.9%. We therefore created specific holiday-season and 'days-to-holiday' features.</a:t>
            </a:r>
          </a:p>
        </p:txBody>
      </p:sp>
    </p:spTree>
    <p:extLst>
      <p:ext uri="{BB962C8B-B14F-4D97-AF65-F5344CB8AC3E}">
        <p14:creationId xmlns:p14="http://schemas.microsoft.com/office/powerpoint/2010/main" val="3820052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C316E-230F-F73B-1469-81091842863C}"/>
              </a:ext>
            </a:extLst>
          </p:cNvPr>
          <p:cNvSpPr>
            <a:spLocks noGrp="1"/>
          </p:cNvSpPr>
          <p:nvPr>
            <p:ph type="title"/>
          </p:nvPr>
        </p:nvSpPr>
        <p:spPr>
          <a:xfrm>
            <a:off x="324464" y="235974"/>
            <a:ext cx="11039168" cy="745920"/>
          </a:xfrm>
        </p:spPr>
        <p:txBody>
          <a:bodyPr>
            <a:normAutofit/>
          </a:bodyPr>
          <a:lstStyle/>
          <a:p>
            <a:r>
              <a:rPr lang="en-US" sz="3600">
                <a:latin typeface="Josefin Sans" pitchFamily="2" charset="0"/>
              </a:rPr>
              <a:t>Task 2.2: Enhanced Feature Engineering (overview)</a:t>
            </a:r>
          </a:p>
        </p:txBody>
      </p:sp>
      <p:sp>
        <p:nvSpPr>
          <p:cNvPr id="3" name="Content Placeholder 2">
            <a:extLst>
              <a:ext uri="{FF2B5EF4-FFF2-40B4-BE49-F238E27FC236}">
                <a16:creationId xmlns:a16="http://schemas.microsoft.com/office/drawing/2014/main" id="{B6F8CCA4-B4F1-4C1C-C96F-EB93D1CA69D8}"/>
              </a:ext>
            </a:extLst>
          </p:cNvPr>
          <p:cNvSpPr>
            <a:spLocks noGrp="1"/>
          </p:cNvSpPr>
          <p:nvPr>
            <p:ph idx="1"/>
          </p:nvPr>
        </p:nvSpPr>
        <p:spPr>
          <a:xfrm>
            <a:off x="739877" y="1150374"/>
            <a:ext cx="10515600" cy="5331389"/>
          </a:xfrm>
        </p:spPr>
        <p:txBody>
          <a:bodyPr>
            <a:normAutofit fontScale="92500" lnSpcReduction="10000"/>
          </a:bodyPr>
          <a:lstStyle/>
          <a:p>
            <a:pPr marL="0" indent="0">
              <a:buNone/>
            </a:pPr>
            <a:r>
              <a:rPr lang="en-US" sz="1600" b="1">
                <a:latin typeface="Josefin Sans" pitchFamily="2" charset="0"/>
              </a:rPr>
              <a:t>We added 42 new advanced features across 6 categories:</a:t>
            </a:r>
          </a:p>
          <a:p>
            <a:pPr marL="0" indent="0">
              <a:buNone/>
            </a:pPr>
            <a:endParaRPr lang="en-US" sz="1600">
              <a:latin typeface="Josefin Sans" pitchFamily="2" charset="0"/>
            </a:endParaRPr>
          </a:p>
          <a:p>
            <a:pPr marL="0" indent="0">
              <a:buNone/>
            </a:pPr>
            <a:r>
              <a:rPr lang="en-US" sz="1600" b="1">
                <a:latin typeface="Josefin Sans" pitchFamily="2" charset="0"/>
              </a:rPr>
              <a:t>1- Advanced Rolling Statistics</a:t>
            </a:r>
            <a:br>
              <a:rPr lang="en-US" sz="1600">
                <a:latin typeface="Josefin Sans" pitchFamily="2" charset="0"/>
              </a:rPr>
            </a:br>
            <a:r>
              <a:rPr lang="en-US" sz="1600" err="1">
                <a:latin typeface="Josefin Sans" pitchFamily="2" charset="0"/>
              </a:rPr>
              <a:t>EMAs</a:t>
            </a:r>
            <a:r>
              <a:rPr lang="en-US" sz="1600">
                <a:latin typeface="Josefin Sans" pitchFamily="2" charset="0"/>
              </a:rPr>
              <a:t>, rolling min/max, ranges, trends, coefficient of variation, acceleration.</a:t>
            </a:r>
          </a:p>
          <a:p>
            <a:pPr marL="0" indent="0">
              <a:buNone/>
            </a:pPr>
            <a:endParaRPr lang="en-US" sz="1600">
              <a:latin typeface="Josefin Sans" pitchFamily="2" charset="0"/>
            </a:endParaRPr>
          </a:p>
          <a:p>
            <a:pPr marL="0" indent="0">
              <a:buNone/>
            </a:pPr>
            <a:r>
              <a:rPr lang="en-US" sz="1600" b="1">
                <a:latin typeface="Josefin Sans" pitchFamily="2" charset="0"/>
              </a:rPr>
              <a:t>2- Seasonal &amp; Holiday Features</a:t>
            </a:r>
            <a:br>
              <a:rPr lang="en-US" sz="1600">
                <a:latin typeface="Josefin Sans" pitchFamily="2" charset="0"/>
              </a:rPr>
            </a:br>
            <a:r>
              <a:rPr lang="en-US" sz="1600">
                <a:latin typeface="Josefin Sans" pitchFamily="2" charset="0"/>
              </a:rPr>
              <a:t>Holiday season flags, back-to-school, Super Bowl, days until Thanksgiving/Christmas, seasonal dummies.</a:t>
            </a:r>
          </a:p>
          <a:p>
            <a:pPr marL="0" indent="0">
              <a:buNone/>
            </a:pPr>
            <a:endParaRPr lang="en-US" sz="1600">
              <a:latin typeface="Josefin Sans" pitchFamily="2" charset="0"/>
            </a:endParaRPr>
          </a:p>
          <a:p>
            <a:pPr marL="0" indent="0">
              <a:buNone/>
            </a:pPr>
            <a:r>
              <a:rPr lang="en-US" sz="1600" b="1">
                <a:latin typeface="Josefin Sans" pitchFamily="2" charset="0"/>
              </a:rPr>
              <a:t>3- Store Performance Features</a:t>
            </a:r>
            <a:br>
              <a:rPr lang="en-US" sz="1600">
                <a:latin typeface="Josefin Sans" pitchFamily="2" charset="0"/>
              </a:rPr>
            </a:br>
            <a:r>
              <a:rPr lang="en-US" sz="1600">
                <a:latin typeface="Josefin Sans" pitchFamily="2" charset="0"/>
              </a:rPr>
              <a:t>Store averages, department averages, store-dept combos, deviations from averages.</a:t>
            </a:r>
          </a:p>
          <a:p>
            <a:pPr marL="0" indent="0">
              <a:buNone/>
            </a:pPr>
            <a:endParaRPr lang="en-US" sz="1600">
              <a:latin typeface="Josefin Sans" pitchFamily="2" charset="0"/>
            </a:endParaRPr>
          </a:p>
          <a:p>
            <a:pPr marL="0" indent="0">
              <a:buNone/>
            </a:pPr>
            <a:r>
              <a:rPr lang="en-US" sz="1600" b="1">
                <a:latin typeface="Josefin Sans" pitchFamily="2" charset="0"/>
              </a:rPr>
              <a:t>4- Promotional Features</a:t>
            </a:r>
            <a:br>
              <a:rPr lang="en-US" sz="1600">
                <a:latin typeface="Josefin Sans" pitchFamily="2" charset="0"/>
              </a:rPr>
            </a:br>
            <a:r>
              <a:rPr lang="en-US" sz="1600">
                <a:latin typeface="Josefin Sans" pitchFamily="2" charset="0"/>
              </a:rPr>
              <a:t>Total markdowns, number of active promotions, promo intensity, rolling promo averages.</a:t>
            </a:r>
          </a:p>
          <a:p>
            <a:pPr marL="0" indent="0">
              <a:buNone/>
            </a:pPr>
            <a:endParaRPr lang="en-US" sz="1600">
              <a:latin typeface="Josefin Sans" pitchFamily="2" charset="0"/>
            </a:endParaRPr>
          </a:p>
          <a:p>
            <a:pPr marL="0" indent="0">
              <a:buNone/>
            </a:pPr>
            <a:r>
              <a:rPr lang="en-US" sz="1600" b="1">
                <a:latin typeface="Josefin Sans" pitchFamily="2" charset="0"/>
              </a:rPr>
              <a:t>5- Economic Interaction Features</a:t>
            </a:r>
            <a:br>
              <a:rPr lang="en-US" sz="1600">
                <a:latin typeface="Josefin Sans" pitchFamily="2" charset="0"/>
              </a:rPr>
            </a:br>
            <a:r>
              <a:rPr lang="en-US" sz="1600">
                <a:latin typeface="Josefin Sans" pitchFamily="2" charset="0"/>
              </a:rPr>
              <a:t>CPI × unemployment, holiday temperature, fuel price × unemployment, purchasing power.</a:t>
            </a:r>
          </a:p>
          <a:p>
            <a:pPr marL="0" indent="0">
              <a:buNone/>
            </a:pPr>
            <a:endParaRPr lang="en-US" sz="1600">
              <a:latin typeface="Josefin Sans" pitchFamily="2" charset="0"/>
            </a:endParaRPr>
          </a:p>
          <a:p>
            <a:pPr marL="0" indent="0">
              <a:buNone/>
            </a:pPr>
            <a:r>
              <a:rPr lang="en-US" sz="1600" b="1">
                <a:latin typeface="Josefin Sans" pitchFamily="2" charset="0"/>
              </a:rPr>
              <a:t>6- Time-Based Aggregations</a:t>
            </a:r>
            <a:br>
              <a:rPr lang="en-US" sz="1600">
                <a:latin typeface="Josefin Sans" pitchFamily="2" charset="0"/>
              </a:rPr>
            </a:br>
            <a:r>
              <a:rPr lang="en-US" sz="1600">
                <a:latin typeface="Josefin Sans" pitchFamily="2" charset="0"/>
              </a:rPr>
              <a:t>Monthly and quarterly average sales, total sales, YoY store growth.</a:t>
            </a:r>
          </a:p>
          <a:p>
            <a:pPr marL="0" indent="0">
              <a:buNone/>
            </a:pPr>
            <a:endParaRPr lang="en-US" sz="1600">
              <a:latin typeface="Josefin Sans" pitchFamily="2" charset="0"/>
            </a:endParaRPr>
          </a:p>
        </p:txBody>
      </p:sp>
    </p:spTree>
    <p:extLst>
      <p:ext uri="{BB962C8B-B14F-4D97-AF65-F5344CB8AC3E}">
        <p14:creationId xmlns:p14="http://schemas.microsoft.com/office/powerpoint/2010/main" val="1485520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9B800-CBCB-354F-9CF7-D636499A3FDF}"/>
              </a:ext>
            </a:extLst>
          </p:cNvPr>
          <p:cNvSpPr>
            <a:spLocks noGrp="1"/>
          </p:cNvSpPr>
          <p:nvPr>
            <p:ph type="title"/>
          </p:nvPr>
        </p:nvSpPr>
        <p:spPr/>
        <p:txBody>
          <a:bodyPr/>
          <a:lstStyle/>
          <a:p>
            <a:r>
              <a:rPr lang="en-US">
                <a:latin typeface="Josefin Sans" pitchFamily="2" charset="0"/>
              </a:rPr>
              <a:t>Example: Advanced Rolling Stats (</a:t>
            </a:r>
            <a:r>
              <a:rPr lang="en-US" err="1">
                <a:latin typeface="Josefin Sans" pitchFamily="2" charset="0"/>
              </a:rPr>
              <a:t>EMAs</a:t>
            </a:r>
            <a:r>
              <a:rPr lang="en-US">
                <a:latin typeface="Josefin Sans" pitchFamily="2" charset="0"/>
              </a:rPr>
              <a:t> &amp; Acceleration)</a:t>
            </a:r>
          </a:p>
        </p:txBody>
      </p:sp>
      <p:pic>
        <p:nvPicPr>
          <p:cNvPr id="5" name="Picture 4" descr="A screenshot of a computer&#10;&#10;AI-generated content may be incorrect.">
            <a:extLst>
              <a:ext uri="{FF2B5EF4-FFF2-40B4-BE49-F238E27FC236}">
                <a16:creationId xmlns:a16="http://schemas.microsoft.com/office/drawing/2014/main" id="{4B5776A9-DC70-9FCE-656D-20C9BF118734}"/>
              </a:ext>
            </a:extLst>
          </p:cNvPr>
          <p:cNvPicPr>
            <a:picLocks noChangeAspect="1"/>
          </p:cNvPicPr>
          <p:nvPr/>
        </p:nvPicPr>
        <p:blipFill>
          <a:blip r:embed="rId3"/>
          <a:stretch>
            <a:fillRect/>
          </a:stretch>
        </p:blipFill>
        <p:spPr>
          <a:xfrm>
            <a:off x="1027992" y="1940671"/>
            <a:ext cx="10136015" cy="1371791"/>
          </a:xfrm>
          <a:prstGeom prst="rect">
            <a:avLst/>
          </a:prstGeom>
        </p:spPr>
      </p:pic>
      <p:sp>
        <p:nvSpPr>
          <p:cNvPr id="6" name="TextBox 5">
            <a:extLst>
              <a:ext uri="{FF2B5EF4-FFF2-40B4-BE49-F238E27FC236}">
                <a16:creationId xmlns:a16="http://schemas.microsoft.com/office/drawing/2014/main" id="{034303B0-F362-C3F4-B55D-C4A07E65266E}"/>
              </a:ext>
            </a:extLst>
          </p:cNvPr>
          <p:cNvSpPr txBox="1"/>
          <p:nvPr/>
        </p:nvSpPr>
        <p:spPr>
          <a:xfrm>
            <a:off x="1586204" y="3704254"/>
            <a:ext cx="4376519" cy="1200329"/>
          </a:xfrm>
          <a:prstGeom prst="rect">
            <a:avLst/>
          </a:prstGeom>
          <a:noFill/>
        </p:spPr>
        <p:txBody>
          <a:bodyPr wrap="none" rtlCol="0">
            <a:spAutoFit/>
          </a:bodyPr>
          <a:lstStyle/>
          <a:p>
            <a:r>
              <a:rPr lang="en-US">
                <a:latin typeface="Josefin Sans" pitchFamily="2" charset="0"/>
              </a:rPr>
              <a:t>– EMA → recent trend</a:t>
            </a:r>
            <a:br>
              <a:rPr lang="en-US">
                <a:latin typeface="Josefin Sans" pitchFamily="2" charset="0"/>
              </a:rPr>
            </a:br>
            <a:r>
              <a:rPr lang="en-US">
                <a:latin typeface="Josefin Sans" pitchFamily="2" charset="0"/>
              </a:rPr>
              <a:t>– Min/Max/Range → volatility</a:t>
            </a:r>
            <a:br>
              <a:rPr lang="en-US">
                <a:latin typeface="Josefin Sans" pitchFamily="2" charset="0"/>
              </a:rPr>
            </a:br>
            <a:r>
              <a:rPr lang="en-US">
                <a:latin typeface="Josefin Sans" pitchFamily="2" charset="0"/>
              </a:rPr>
              <a:t>– Trend → short-term direction</a:t>
            </a:r>
            <a:br>
              <a:rPr lang="en-US">
                <a:latin typeface="Josefin Sans" pitchFamily="2" charset="0"/>
              </a:rPr>
            </a:br>
            <a:r>
              <a:rPr lang="en-US">
                <a:latin typeface="Josefin Sans" pitchFamily="2" charset="0"/>
              </a:rPr>
              <a:t>– Acceleration → how fast trend changes</a:t>
            </a:r>
          </a:p>
        </p:txBody>
      </p:sp>
      <p:sp>
        <p:nvSpPr>
          <p:cNvPr id="7" name="TextBox 6">
            <a:extLst>
              <a:ext uri="{FF2B5EF4-FFF2-40B4-BE49-F238E27FC236}">
                <a16:creationId xmlns:a16="http://schemas.microsoft.com/office/drawing/2014/main" id="{BED42633-2609-B817-C70E-38E384C7917E}"/>
              </a:ext>
            </a:extLst>
          </p:cNvPr>
          <p:cNvSpPr txBox="1"/>
          <p:nvPr/>
        </p:nvSpPr>
        <p:spPr>
          <a:xfrm>
            <a:off x="838200" y="5296375"/>
            <a:ext cx="10515600" cy="646331"/>
          </a:xfrm>
          <a:prstGeom prst="rect">
            <a:avLst/>
          </a:prstGeom>
          <a:noFill/>
        </p:spPr>
        <p:txBody>
          <a:bodyPr wrap="square" rtlCol="0">
            <a:spAutoFit/>
          </a:bodyPr>
          <a:lstStyle/>
          <a:p>
            <a:r>
              <a:rPr lang="en-US" err="1">
                <a:latin typeface="Josefin Sans" pitchFamily="2" charset="0"/>
              </a:rPr>
              <a:t>EMAs</a:t>
            </a:r>
            <a:r>
              <a:rPr lang="en-US">
                <a:latin typeface="Josefin Sans" pitchFamily="2" charset="0"/>
              </a:rPr>
              <a:t> give weighted recent trends, range/min/max capture extremes, and acceleration quantifies the speed of change — all crucial for short-term forecasting.</a:t>
            </a:r>
          </a:p>
        </p:txBody>
      </p:sp>
    </p:spTree>
    <p:extLst>
      <p:ext uri="{BB962C8B-B14F-4D97-AF65-F5344CB8AC3E}">
        <p14:creationId xmlns:p14="http://schemas.microsoft.com/office/powerpoint/2010/main" val="2040905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1E871-3403-73DA-D993-95E7B9229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06B7B-D7B4-0DDB-714D-C154B47C4486}"/>
              </a:ext>
            </a:extLst>
          </p:cNvPr>
          <p:cNvSpPr>
            <a:spLocks noGrp="1"/>
          </p:cNvSpPr>
          <p:nvPr>
            <p:ph type="title"/>
          </p:nvPr>
        </p:nvSpPr>
        <p:spPr/>
        <p:txBody>
          <a:bodyPr/>
          <a:lstStyle/>
          <a:p>
            <a:r>
              <a:rPr lang="en-US">
                <a:latin typeface="Josefin Sans" pitchFamily="2" charset="0"/>
              </a:rPr>
              <a:t>Example: Seasonal &amp; Holiday Features</a:t>
            </a:r>
          </a:p>
        </p:txBody>
      </p:sp>
      <p:sp>
        <p:nvSpPr>
          <p:cNvPr id="7" name="TextBox 6">
            <a:extLst>
              <a:ext uri="{FF2B5EF4-FFF2-40B4-BE49-F238E27FC236}">
                <a16:creationId xmlns:a16="http://schemas.microsoft.com/office/drawing/2014/main" id="{84426C75-8DCE-5BD8-4E44-FDFB76151633}"/>
              </a:ext>
            </a:extLst>
          </p:cNvPr>
          <p:cNvSpPr txBox="1"/>
          <p:nvPr/>
        </p:nvSpPr>
        <p:spPr>
          <a:xfrm>
            <a:off x="838200" y="4232633"/>
            <a:ext cx="10515600" cy="646331"/>
          </a:xfrm>
          <a:prstGeom prst="rect">
            <a:avLst/>
          </a:prstGeom>
          <a:noFill/>
        </p:spPr>
        <p:txBody>
          <a:bodyPr wrap="square" rtlCol="0">
            <a:spAutoFit/>
          </a:bodyPr>
          <a:lstStyle/>
          <a:p>
            <a:r>
              <a:rPr lang="en-US">
                <a:latin typeface="Josefin Sans" pitchFamily="2" charset="0"/>
              </a:rPr>
              <a:t>These features explicitly encode holiday timing and season boundaries so models can react to predictable calendar-driven spikes.</a:t>
            </a:r>
          </a:p>
        </p:txBody>
      </p:sp>
      <p:pic>
        <p:nvPicPr>
          <p:cNvPr id="4" name="Picture 3" descr="A screenshot of a computer&#10;&#10;AI-generated content may be incorrect.">
            <a:extLst>
              <a:ext uri="{FF2B5EF4-FFF2-40B4-BE49-F238E27FC236}">
                <a16:creationId xmlns:a16="http://schemas.microsoft.com/office/drawing/2014/main" id="{EB0435C4-78B8-EE49-CFE5-290786718255}"/>
              </a:ext>
            </a:extLst>
          </p:cNvPr>
          <p:cNvPicPr>
            <a:picLocks noChangeAspect="1"/>
          </p:cNvPicPr>
          <p:nvPr/>
        </p:nvPicPr>
        <p:blipFill>
          <a:blip r:embed="rId3"/>
          <a:stretch>
            <a:fillRect/>
          </a:stretch>
        </p:blipFill>
        <p:spPr>
          <a:xfrm>
            <a:off x="218254" y="1412566"/>
            <a:ext cx="11755491" cy="2095792"/>
          </a:xfrm>
          <a:prstGeom prst="rect">
            <a:avLst/>
          </a:prstGeom>
        </p:spPr>
      </p:pic>
    </p:spTree>
    <p:extLst>
      <p:ext uri="{BB962C8B-B14F-4D97-AF65-F5344CB8AC3E}">
        <p14:creationId xmlns:p14="http://schemas.microsoft.com/office/powerpoint/2010/main" val="8186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55340-4E79-9155-1058-13F3866F3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9B7AA-233B-B752-ABC7-157F2E49345E}"/>
              </a:ext>
            </a:extLst>
          </p:cNvPr>
          <p:cNvSpPr>
            <a:spLocks noGrp="1"/>
          </p:cNvSpPr>
          <p:nvPr>
            <p:ph type="title"/>
          </p:nvPr>
        </p:nvSpPr>
        <p:spPr/>
        <p:txBody>
          <a:bodyPr/>
          <a:lstStyle/>
          <a:p>
            <a:r>
              <a:rPr lang="en-US">
                <a:latin typeface="Josefin Sans" pitchFamily="2" charset="0"/>
              </a:rPr>
              <a:t>Example: Store/Dept Aggregates &amp; Deviations</a:t>
            </a:r>
          </a:p>
        </p:txBody>
      </p:sp>
      <p:sp>
        <p:nvSpPr>
          <p:cNvPr id="7" name="TextBox 6">
            <a:extLst>
              <a:ext uri="{FF2B5EF4-FFF2-40B4-BE49-F238E27FC236}">
                <a16:creationId xmlns:a16="http://schemas.microsoft.com/office/drawing/2014/main" id="{0724A465-3663-9C9D-3EBD-C47DE9830040}"/>
              </a:ext>
            </a:extLst>
          </p:cNvPr>
          <p:cNvSpPr txBox="1">
            <a:spLocks noGrp="1" noRot="1" noMove="1" noResize="1" noEditPoints="1" noAdjustHandles="1" noChangeArrowheads="1" noChangeShapeType="1"/>
          </p:cNvSpPr>
          <p:nvPr/>
        </p:nvSpPr>
        <p:spPr>
          <a:xfrm>
            <a:off x="838200" y="4232633"/>
            <a:ext cx="10515600" cy="1200329"/>
          </a:xfrm>
          <a:prstGeom prst="rect">
            <a:avLst/>
          </a:prstGeom>
          <a:noFill/>
        </p:spPr>
        <p:txBody>
          <a:bodyPr wrap="square" rtlCol="0">
            <a:spAutoFit/>
          </a:bodyPr>
          <a:lstStyle/>
          <a:p>
            <a:r>
              <a:rPr lang="en-US">
                <a:latin typeface="Josefin Sans" pitchFamily="2" charset="0"/>
              </a:rPr>
              <a:t>The dataset contains many stores and many departments. So we created summary features that describe how each store, each department, and each store–department combination usually performs. These help the model understand the baseline sales and whether a particular week is above or below normal.</a:t>
            </a:r>
          </a:p>
        </p:txBody>
      </p:sp>
      <p:pic>
        <p:nvPicPr>
          <p:cNvPr id="5" name="Picture 4" descr="A screenshot of a computer&#10;&#10;AI-generated content may be incorrect.">
            <a:extLst>
              <a:ext uri="{FF2B5EF4-FFF2-40B4-BE49-F238E27FC236}">
                <a16:creationId xmlns:a16="http://schemas.microsoft.com/office/drawing/2014/main" id="{C214B1DB-30B0-C9F8-1434-DFC56D996FAC}"/>
              </a:ext>
            </a:extLst>
          </p:cNvPr>
          <p:cNvPicPr>
            <a:picLocks noChangeAspect="1"/>
          </p:cNvPicPr>
          <p:nvPr/>
        </p:nvPicPr>
        <p:blipFill>
          <a:blip r:embed="rId3"/>
          <a:stretch>
            <a:fillRect/>
          </a:stretch>
        </p:blipFill>
        <p:spPr>
          <a:xfrm>
            <a:off x="4282153" y="1425038"/>
            <a:ext cx="7173326" cy="1629002"/>
          </a:xfrm>
          <a:prstGeom prst="rect">
            <a:avLst/>
          </a:prstGeom>
        </p:spPr>
      </p:pic>
      <p:graphicFrame>
        <p:nvGraphicFramePr>
          <p:cNvPr id="6" name="Table 5">
            <a:extLst>
              <a:ext uri="{FF2B5EF4-FFF2-40B4-BE49-F238E27FC236}">
                <a16:creationId xmlns:a16="http://schemas.microsoft.com/office/drawing/2014/main" id="{F900D8B0-0151-34FD-4E8E-F5471DE6F998}"/>
              </a:ext>
            </a:extLst>
          </p:cNvPr>
          <p:cNvGraphicFramePr>
            <a:graphicFrameLocks noGrp="1"/>
          </p:cNvGraphicFramePr>
          <p:nvPr>
            <p:extLst>
              <p:ext uri="{D42A27DB-BD31-4B8C-83A1-F6EECF244321}">
                <p14:modId xmlns:p14="http://schemas.microsoft.com/office/powerpoint/2010/main" val="484903230"/>
              </p:ext>
            </p:extLst>
          </p:nvPr>
        </p:nvGraphicFramePr>
        <p:xfrm>
          <a:off x="838200" y="3301041"/>
          <a:ext cx="10515600" cy="731520"/>
        </p:xfrm>
        <a:graphic>
          <a:graphicData uri="http://schemas.openxmlformats.org/drawingml/2006/table">
            <a:tbl>
              <a:tblPr>
                <a:tableStyleId>{5940675A-B579-460E-94D1-54222C63F5DA}</a:tableStyleId>
              </a:tblPr>
              <a:tblGrid>
                <a:gridCol w="1037253">
                  <a:extLst>
                    <a:ext uri="{9D8B030D-6E8A-4147-A177-3AD203B41FA5}">
                      <a16:colId xmlns:a16="http://schemas.microsoft.com/office/drawing/2014/main" val="839973657"/>
                    </a:ext>
                  </a:extLst>
                </a:gridCol>
                <a:gridCol w="1007706">
                  <a:extLst>
                    <a:ext uri="{9D8B030D-6E8A-4147-A177-3AD203B41FA5}">
                      <a16:colId xmlns:a16="http://schemas.microsoft.com/office/drawing/2014/main" val="2727686642"/>
                    </a:ext>
                  </a:extLst>
                </a:gridCol>
                <a:gridCol w="1922106">
                  <a:extLst>
                    <a:ext uri="{9D8B030D-6E8A-4147-A177-3AD203B41FA5}">
                      <a16:colId xmlns:a16="http://schemas.microsoft.com/office/drawing/2014/main" val="3247653955"/>
                    </a:ext>
                  </a:extLst>
                </a:gridCol>
                <a:gridCol w="2118049">
                  <a:extLst>
                    <a:ext uri="{9D8B030D-6E8A-4147-A177-3AD203B41FA5}">
                      <a16:colId xmlns:a16="http://schemas.microsoft.com/office/drawing/2014/main" val="3704742974"/>
                    </a:ext>
                  </a:extLst>
                </a:gridCol>
                <a:gridCol w="1894115">
                  <a:extLst>
                    <a:ext uri="{9D8B030D-6E8A-4147-A177-3AD203B41FA5}">
                      <a16:colId xmlns:a16="http://schemas.microsoft.com/office/drawing/2014/main" val="674908703"/>
                    </a:ext>
                  </a:extLst>
                </a:gridCol>
                <a:gridCol w="2536371">
                  <a:extLst>
                    <a:ext uri="{9D8B030D-6E8A-4147-A177-3AD203B41FA5}">
                      <a16:colId xmlns:a16="http://schemas.microsoft.com/office/drawing/2014/main" val="379462961"/>
                    </a:ext>
                  </a:extLst>
                </a:gridCol>
              </a:tblGrid>
              <a:tr h="0">
                <a:tc>
                  <a:txBody>
                    <a:bodyPr/>
                    <a:lstStyle/>
                    <a:p>
                      <a:pPr>
                        <a:buNone/>
                      </a:pPr>
                      <a:r>
                        <a:rPr lang="en-US"/>
                        <a:t>Store</a:t>
                      </a:r>
                    </a:p>
                  </a:txBody>
                  <a:tcPr anchor="ctr"/>
                </a:tc>
                <a:tc>
                  <a:txBody>
                    <a:bodyPr/>
                    <a:lstStyle/>
                    <a:p>
                      <a:pPr>
                        <a:buNone/>
                      </a:pPr>
                      <a:r>
                        <a:rPr lang="en-US"/>
                        <a:t>Dept</a:t>
                      </a:r>
                    </a:p>
                  </a:txBody>
                  <a:tcPr anchor="ctr"/>
                </a:tc>
                <a:tc>
                  <a:txBody>
                    <a:bodyPr/>
                    <a:lstStyle/>
                    <a:p>
                      <a:pPr>
                        <a:buNone/>
                      </a:pPr>
                      <a:r>
                        <a:rPr lang="en-US"/>
                        <a:t>Weekly_Sales</a:t>
                      </a:r>
                    </a:p>
                  </a:txBody>
                  <a:tcPr anchor="ctr"/>
                </a:tc>
                <a:tc>
                  <a:txBody>
                    <a:bodyPr/>
                    <a:lstStyle/>
                    <a:p>
                      <a:pPr>
                        <a:buNone/>
                      </a:pPr>
                      <a:r>
                        <a:rPr lang="en-US"/>
                        <a:t>Store_Avg_Sales</a:t>
                      </a:r>
                    </a:p>
                  </a:txBody>
                  <a:tcPr anchor="ctr"/>
                </a:tc>
                <a:tc>
                  <a:txBody>
                    <a:bodyPr/>
                    <a:lstStyle/>
                    <a:p>
                      <a:pPr>
                        <a:buNone/>
                      </a:pPr>
                      <a:r>
                        <a:rPr lang="en-US" err="1"/>
                        <a:t>Dept_Avg_Sales</a:t>
                      </a:r>
                      <a:endParaRPr lang="en-US"/>
                    </a:p>
                  </a:txBody>
                  <a:tcPr anchor="ctr"/>
                </a:tc>
                <a:tc>
                  <a:txBody>
                    <a:bodyPr/>
                    <a:lstStyle/>
                    <a:p>
                      <a:pPr>
                        <a:buNone/>
                      </a:pPr>
                      <a:r>
                        <a:rPr lang="en-US"/>
                        <a:t>StoreDept_Avg_Sales</a:t>
                      </a:r>
                    </a:p>
                  </a:txBody>
                  <a:tcPr anchor="ctr"/>
                </a:tc>
                <a:extLst>
                  <a:ext uri="{0D108BD9-81ED-4DB2-BD59-A6C34878D82A}">
                    <a16:rowId xmlns:a16="http://schemas.microsoft.com/office/drawing/2014/main" val="633212013"/>
                  </a:ext>
                </a:extLst>
              </a:tr>
              <a:tr h="0">
                <a:tc>
                  <a:txBody>
                    <a:bodyPr/>
                    <a:lstStyle/>
                    <a:p>
                      <a:pPr>
                        <a:buNone/>
                      </a:pPr>
                      <a:r>
                        <a:rPr lang="en-US"/>
                        <a:t>1</a:t>
                      </a:r>
                    </a:p>
                  </a:txBody>
                  <a:tcPr anchor="ctr"/>
                </a:tc>
                <a:tc>
                  <a:txBody>
                    <a:bodyPr/>
                    <a:lstStyle/>
                    <a:p>
                      <a:pPr>
                        <a:buNone/>
                      </a:pPr>
                      <a:r>
                        <a:rPr lang="en-US"/>
                        <a:t>1</a:t>
                      </a:r>
                    </a:p>
                  </a:txBody>
                  <a:tcPr anchor="ctr"/>
                </a:tc>
                <a:tc>
                  <a:txBody>
                    <a:bodyPr/>
                    <a:lstStyle/>
                    <a:p>
                      <a:pPr>
                        <a:buNone/>
                      </a:pPr>
                      <a:r>
                        <a:rPr lang="en-US"/>
                        <a:t>24924.5</a:t>
                      </a:r>
                    </a:p>
                  </a:txBody>
                  <a:tcPr anchor="ctr"/>
                </a:tc>
                <a:tc>
                  <a:txBody>
                    <a:bodyPr/>
                    <a:lstStyle/>
                    <a:p>
                      <a:pPr>
                        <a:buNone/>
                      </a:pPr>
                      <a:r>
                        <a:rPr lang="en-US"/>
                        <a:t>21710.5</a:t>
                      </a:r>
                    </a:p>
                  </a:txBody>
                  <a:tcPr anchor="ctr"/>
                </a:tc>
                <a:tc>
                  <a:txBody>
                    <a:bodyPr/>
                    <a:lstStyle/>
                    <a:p>
                      <a:pPr>
                        <a:buNone/>
                      </a:pPr>
                      <a:r>
                        <a:rPr lang="en-US"/>
                        <a:t>19213.5</a:t>
                      </a:r>
                    </a:p>
                  </a:txBody>
                  <a:tcPr anchor="ctr"/>
                </a:tc>
                <a:tc>
                  <a:txBody>
                    <a:bodyPr/>
                    <a:lstStyle/>
                    <a:p>
                      <a:pPr>
                        <a:buNone/>
                      </a:pPr>
                      <a:r>
                        <a:rPr lang="en-US"/>
                        <a:t>22513.3</a:t>
                      </a:r>
                    </a:p>
                  </a:txBody>
                  <a:tcPr anchor="ctr"/>
                </a:tc>
                <a:extLst>
                  <a:ext uri="{0D108BD9-81ED-4DB2-BD59-A6C34878D82A}">
                    <a16:rowId xmlns:a16="http://schemas.microsoft.com/office/drawing/2014/main" val="3030272512"/>
                  </a:ext>
                </a:extLst>
              </a:tr>
            </a:tbl>
          </a:graphicData>
        </a:graphic>
      </p:graphicFrame>
    </p:spTree>
    <p:extLst>
      <p:ext uri="{BB962C8B-B14F-4D97-AF65-F5344CB8AC3E}">
        <p14:creationId xmlns:p14="http://schemas.microsoft.com/office/powerpoint/2010/main" val="3845272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AD7B9-13A6-A2BF-C341-5D4EFDEE9F23}"/>
            </a:ext>
          </a:extLst>
        </p:cNvPr>
        <p:cNvGrpSpPr/>
        <p:nvPr/>
      </p:nvGrpSpPr>
      <p:grpSpPr>
        <a:xfrm>
          <a:off x="0" y="0"/>
          <a:ext cx="0" cy="0"/>
          <a:chOff x="0" y="0"/>
          <a:chExt cx="0" cy="0"/>
        </a:xfrm>
      </p:grpSpPr>
      <p:pic>
        <p:nvPicPr>
          <p:cNvPr id="9" name="Picture 8" descr="A close-up of a graph&#10;&#10;AI-generated content may be incorrect.">
            <a:extLst>
              <a:ext uri="{FF2B5EF4-FFF2-40B4-BE49-F238E27FC236}">
                <a16:creationId xmlns:a16="http://schemas.microsoft.com/office/drawing/2014/main" id="{73014AFB-329F-0ABC-FD50-969D7946C44F}"/>
              </a:ext>
            </a:extLst>
          </p:cNvPr>
          <p:cNvPicPr>
            <a:picLocks noChangeAspect="1"/>
          </p:cNvPicPr>
          <p:nvPr/>
        </p:nvPicPr>
        <p:blipFill>
          <a:blip r:embed="rId3"/>
          <a:stretch>
            <a:fillRect/>
          </a:stretch>
        </p:blipFill>
        <p:spPr>
          <a:xfrm>
            <a:off x="4402812" y="1000124"/>
            <a:ext cx="7789188" cy="5303983"/>
          </a:xfrm>
          <a:prstGeom prst="rect">
            <a:avLst/>
          </a:prstGeom>
        </p:spPr>
      </p:pic>
      <p:sp>
        <p:nvSpPr>
          <p:cNvPr id="2" name="Title 1">
            <a:extLst>
              <a:ext uri="{FF2B5EF4-FFF2-40B4-BE49-F238E27FC236}">
                <a16:creationId xmlns:a16="http://schemas.microsoft.com/office/drawing/2014/main" id="{D81E28A0-A3B0-484F-6C02-D79D053A8589}"/>
              </a:ext>
            </a:extLst>
          </p:cNvPr>
          <p:cNvSpPr>
            <a:spLocks noGrp="1"/>
          </p:cNvSpPr>
          <p:nvPr>
            <p:ph type="title"/>
          </p:nvPr>
        </p:nvSpPr>
        <p:spPr/>
        <p:txBody>
          <a:bodyPr/>
          <a:lstStyle/>
          <a:p>
            <a:r>
              <a:rPr lang="en-US">
                <a:latin typeface="Josefin Sans" pitchFamily="2" charset="0"/>
              </a:rPr>
              <a:t>Task 2.3: Advanced Visualizations (dashboard)</a:t>
            </a:r>
          </a:p>
        </p:txBody>
      </p:sp>
      <p:sp>
        <p:nvSpPr>
          <p:cNvPr id="10" name="TextBox 9">
            <a:extLst>
              <a:ext uri="{FF2B5EF4-FFF2-40B4-BE49-F238E27FC236}">
                <a16:creationId xmlns:a16="http://schemas.microsoft.com/office/drawing/2014/main" id="{8E6927D2-F253-29DC-3576-53B0D84DF817}"/>
              </a:ext>
            </a:extLst>
          </p:cNvPr>
          <p:cNvSpPr txBox="1"/>
          <p:nvPr/>
        </p:nvSpPr>
        <p:spPr>
          <a:xfrm>
            <a:off x="352425" y="1951672"/>
            <a:ext cx="3971925" cy="1477328"/>
          </a:xfrm>
          <a:prstGeom prst="rect">
            <a:avLst/>
          </a:prstGeom>
          <a:noFill/>
        </p:spPr>
        <p:txBody>
          <a:bodyPr wrap="square" rtlCol="0">
            <a:spAutoFit/>
          </a:bodyPr>
          <a:lstStyle/>
          <a:p>
            <a:r>
              <a:rPr lang="en-US">
                <a:latin typeface="Josefin Sans" pitchFamily="2" charset="0"/>
              </a:rPr>
              <a:t>We produced a 7-panel dashboard and multiple plots that helped validate feature choices and communicated the patterns to stakeholders.</a:t>
            </a:r>
          </a:p>
        </p:txBody>
      </p:sp>
    </p:spTree>
    <p:extLst>
      <p:ext uri="{BB962C8B-B14F-4D97-AF65-F5344CB8AC3E}">
        <p14:creationId xmlns:p14="http://schemas.microsoft.com/office/powerpoint/2010/main" val="2704808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76D14-32C4-26AC-887F-834AF6351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958F8-C194-CE2A-5167-352F5DF359BC}"/>
              </a:ext>
            </a:extLst>
          </p:cNvPr>
          <p:cNvSpPr>
            <a:spLocks noGrp="1"/>
          </p:cNvSpPr>
          <p:nvPr>
            <p:ph type="title"/>
          </p:nvPr>
        </p:nvSpPr>
        <p:spPr/>
        <p:txBody>
          <a:bodyPr/>
          <a:lstStyle/>
          <a:p>
            <a:r>
              <a:rPr lang="en-US">
                <a:latin typeface="Josefin Sans" pitchFamily="2" charset="0"/>
              </a:rPr>
              <a:t>Task 2.3: Final dataset summary</a:t>
            </a:r>
          </a:p>
        </p:txBody>
      </p:sp>
      <p:pic>
        <p:nvPicPr>
          <p:cNvPr id="3" name="Picture 2" descr="A grid of black dots&#10;&#10;AI-generated content may be incorrect.">
            <a:extLst>
              <a:ext uri="{FF2B5EF4-FFF2-40B4-BE49-F238E27FC236}">
                <a16:creationId xmlns:a16="http://schemas.microsoft.com/office/drawing/2014/main" id="{892B81B2-3464-FB91-7B0D-207AAFED4AE5}"/>
              </a:ext>
            </a:extLst>
          </p:cNvPr>
          <p:cNvPicPr>
            <a:picLocks noChangeAspect="1"/>
          </p:cNvPicPr>
          <p:nvPr/>
        </p:nvPicPr>
        <p:blipFill>
          <a:blip r:embed="rId3"/>
          <a:stretch>
            <a:fillRect/>
          </a:stretch>
        </p:blipFill>
        <p:spPr>
          <a:xfrm>
            <a:off x="-101363" y="2428862"/>
            <a:ext cx="12293363" cy="4297680"/>
          </a:xfrm>
          <a:prstGeom prst="rect">
            <a:avLst/>
          </a:prstGeom>
        </p:spPr>
      </p:pic>
      <p:sp>
        <p:nvSpPr>
          <p:cNvPr id="5" name="TextBox 4">
            <a:extLst>
              <a:ext uri="{FF2B5EF4-FFF2-40B4-BE49-F238E27FC236}">
                <a16:creationId xmlns:a16="http://schemas.microsoft.com/office/drawing/2014/main" id="{54DD43F5-1B16-AD0B-C2C0-0EE937728150}"/>
              </a:ext>
            </a:extLst>
          </p:cNvPr>
          <p:cNvSpPr txBox="1"/>
          <p:nvPr/>
        </p:nvSpPr>
        <p:spPr>
          <a:xfrm>
            <a:off x="1656184" y="1807420"/>
            <a:ext cx="6148872" cy="369332"/>
          </a:xfrm>
          <a:prstGeom prst="rect">
            <a:avLst/>
          </a:prstGeom>
          <a:noFill/>
        </p:spPr>
        <p:txBody>
          <a:bodyPr wrap="square">
            <a:spAutoFit/>
          </a:bodyPr>
          <a:lstStyle/>
          <a:p>
            <a:r>
              <a:rPr lang="en-US" err="1"/>
              <a:t>train_enhanced.csv</a:t>
            </a:r>
            <a:r>
              <a:rPr lang="en-US"/>
              <a:t>  before</a:t>
            </a:r>
          </a:p>
        </p:txBody>
      </p:sp>
    </p:spTree>
    <p:extLst>
      <p:ext uri="{BB962C8B-B14F-4D97-AF65-F5344CB8AC3E}">
        <p14:creationId xmlns:p14="http://schemas.microsoft.com/office/powerpoint/2010/main" val="1152282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and white grid&#10;&#10;AI-generated content may be incorrect.">
            <a:extLst>
              <a:ext uri="{FF2B5EF4-FFF2-40B4-BE49-F238E27FC236}">
                <a16:creationId xmlns:a16="http://schemas.microsoft.com/office/drawing/2014/main" id="{2E0ECAA8-FC62-3FC8-6D1B-86F898E80BE8}"/>
              </a:ext>
            </a:extLst>
          </p:cNvPr>
          <p:cNvPicPr>
            <a:picLocks noChangeAspect="1"/>
          </p:cNvPicPr>
          <p:nvPr/>
        </p:nvPicPr>
        <p:blipFill>
          <a:blip r:embed="rId2"/>
          <a:stretch>
            <a:fillRect/>
          </a:stretch>
        </p:blipFill>
        <p:spPr>
          <a:xfrm>
            <a:off x="0" y="1113241"/>
            <a:ext cx="12192000" cy="4631517"/>
          </a:xfrm>
          <a:prstGeom prst="rect">
            <a:avLst/>
          </a:prstGeom>
        </p:spPr>
      </p:pic>
      <p:sp>
        <p:nvSpPr>
          <p:cNvPr id="7" name="TextBox 6">
            <a:extLst>
              <a:ext uri="{FF2B5EF4-FFF2-40B4-BE49-F238E27FC236}">
                <a16:creationId xmlns:a16="http://schemas.microsoft.com/office/drawing/2014/main" id="{38990ABA-337B-DFC9-DEEA-C721EA7558CB}"/>
              </a:ext>
            </a:extLst>
          </p:cNvPr>
          <p:cNvSpPr txBox="1"/>
          <p:nvPr/>
        </p:nvSpPr>
        <p:spPr>
          <a:xfrm>
            <a:off x="4989546" y="5866236"/>
            <a:ext cx="6097554" cy="369332"/>
          </a:xfrm>
          <a:prstGeom prst="rect">
            <a:avLst/>
          </a:prstGeom>
          <a:noFill/>
        </p:spPr>
        <p:txBody>
          <a:bodyPr wrap="square">
            <a:spAutoFit/>
          </a:bodyPr>
          <a:lstStyle/>
          <a:p>
            <a:r>
              <a:rPr lang="en-US"/>
              <a:t>(421,570 × 91)</a:t>
            </a:r>
          </a:p>
        </p:txBody>
      </p:sp>
      <p:sp>
        <p:nvSpPr>
          <p:cNvPr id="8" name="TextBox 7">
            <a:extLst>
              <a:ext uri="{FF2B5EF4-FFF2-40B4-BE49-F238E27FC236}">
                <a16:creationId xmlns:a16="http://schemas.microsoft.com/office/drawing/2014/main" id="{B57DC9C2-08C4-4AEF-434A-D1FE27DB1C29}"/>
              </a:ext>
            </a:extLst>
          </p:cNvPr>
          <p:cNvSpPr txBox="1"/>
          <p:nvPr/>
        </p:nvSpPr>
        <p:spPr>
          <a:xfrm>
            <a:off x="1684176" y="253100"/>
            <a:ext cx="6148872" cy="369332"/>
          </a:xfrm>
          <a:prstGeom prst="rect">
            <a:avLst/>
          </a:prstGeom>
          <a:noFill/>
        </p:spPr>
        <p:txBody>
          <a:bodyPr wrap="square">
            <a:spAutoFit/>
          </a:bodyPr>
          <a:lstStyle/>
          <a:p>
            <a:r>
              <a:rPr lang="en-US" err="1"/>
              <a:t>train_enhanced.csv</a:t>
            </a:r>
            <a:r>
              <a:rPr lang="en-US"/>
              <a:t>  After</a:t>
            </a:r>
          </a:p>
        </p:txBody>
      </p:sp>
    </p:spTree>
    <p:extLst>
      <p:ext uri="{BB962C8B-B14F-4D97-AF65-F5344CB8AC3E}">
        <p14:creationId xmlns:p14="http://schemas.microsoft.com/office/powerpoint/2010/main" val="29361712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71084-848B-E7E2-D8F7-87BFCBE18D9E}"/>
              </a:ext>
            </a:extLst>
          </p:cNvPr>
          <p:cNvSpPr>
            <a:spLocks noGrp="1"/>
          </p:cNvSpPr>
          <p:nvPr>
            <p:ph type="title"/>
          </p:nvPr>
        </p:nvSpPr>
        <p:spPr/>
        <p:txBody>
          <a:bodyPr/>
          <a:lstStyle/>
          <a:p>
            <a:r>
              <a:rPr lang="en-US"/>
              <a:t>Milestone 3: Machine learning model building</a:t>
            </a:r>
            <a:endParaRPr lang="ar-SA"/>
          </a:p>
        </p:txBody>
      </p:sp>
      <p:sp>
        <p:nvSpPr>
          <p:cNvPr id="7" name="Content Placeholder 6">
            <a:extLst>
              <a:ext uri="{FF2B5EF4-FFF2-40B4-BE49-F238E27FC236}">
                <a16:creationId xmlns:a16="http://schemas.microsoft.com/office/drawing/2014/main" id="{1690D0BD-0922-C229-20CE-68E0DF7A4F2D}"/>
              </a:ext>
            </a:extLst>
          </p:cNvPr>
          <p:cNvSpPr>
            <a:spLocks noGrp="1"/>
          </p:cNvSpPr>
          <p:nvPr>
            <p:ph idx="1"/>
          </p:nvPr>
        </p:nvSpPr>
        <p:spPr/>
        <p:txBody>
          <a:bodyPr/>
          <a:lstStyle/>
          <a:p>
            <a:r>
              <a:rPr lang="en-US"/>
              <a:t>In this Milestone, we have chosen 3 types of models and separated the features into 5 stages. Each stage contains a related group of features to make a comparison and choose the best model and the best stage of features.</a:t>
            </a:r>
          </a:p>
          <a:p>
            <a:endParaRPr lang="en-US"/>
          </a:p>
          <a:p>
            <a:r>
              <a:rPr lang="en-US"/>
              <a:t>Models used </a:t>
            </a:r>
            <a:r>
              <a:rPr lang="en-US">
                <a:sym typeface="Wingdings" panose="05000000000000000000" pitchFamily="2" charset="2"/>
              </a:rPr>
              <a:t>  Random-Forest, </a:t>
            </a:r>
            <a:r>
              <a:rPr lang="en-US" err="1">
                <a:sym typeface="Wingdings" panose="05000000000000000000" pitchFamily="2" charset="2"/>
              </a:rPr>
              <a:t>XGBoost</a:t>
            </a:r>
            <a:r>
              <a:rPr lang="en-US">
                <a:sym typeface="Wingdings" panose="05000000000000000000" pitchFamily="2" charset="2"/>
              </a:rPr>
              <a:t>, </a:t>
            </a:r>
            <a:r>
              <a:rPr lang="en-US" err="1">
                <a:sym typeface="Wingdings" panose="05000000000000000000" pitchFamily="2" charset="2"/>
              </a:rPr>
              <a:t>lightGBM</a:t>
            </a:r>
            <a:endParaRPr lang="en-US">
              <a:sym typeface="Wingdings" panose="05000000000000000000" pitchFamily="2" charset="2"/>
            </a:endParaRPr>
          </a:p>
          <a:p>
            <a:r>
              <a:rPr lang="en-US"/>
              <a:t>Stages used  </a:t>
            </a:r>
            <a:r>
              <a:rPr lang="en-US">
                <a:sym typeface="Wingdings" panose="05000000000000000000" pitchFamily="2" charset="2"/>
              </a:rPr>
              <a:t>  </a:t>
            </a:r>
            <a:r>
              <a:rPr lang="en-US" sz="2000"/>
              <a:t>Stage 1 (Critical) → Stage 2 (+Promotions) → Stage 3 (+Temporal) →               Stage 4 (+External) → Stage 5 (+Advanced)</a:t>
            </a:r>
            <a:endParaRPr lang="ar-SA"/>
          </a:p>
        </p:txBody>
      </p:sp>
    </p:spTree>
    <p:extLst>
      <p:ext uri="{BB962C8B-B14F-4D97-AF65-F5344CB8AC3E}">
        <p14:creationId xmlns:p14="http://schemas.microsoft.com/office/powerpoint/2010/main" val="41041623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AAC27-1907-AE78-0ED0-9A90199BCD09}"/>
              </a:ext>
            </a:extLst>
          </p:cNvPr>
          <p:cNvSpPr>
            <a:spLocks noGrp="1"/>
          </p:cNvSpPr>
          <p:nvPr>
            <p:ph type="title"/>
          </p:nvPr>
        </p:nvSpPr>
        <p:spPr/>
        <p:txBody>
          <a:bodyPr/>
          <a:lstStyle/>
          <a:p>
            <a:r>
              <a:rPr lang="en-US"/>
              <a:t>Milestone 3 Overview</a:t>
            </a:r>
            <a:endParaRPr lang="ar-SA"/>
          </a:p>
        </p:txBody>
      </p:sp>
      <p:grpSp>
        <p:nvGrpSpPr>
          <p:cNvPr id="4" name="Group 3">
            <a:extLst>
              <a:ext uri="{FF2B5EF4-FFF2-40B4-BE49-F238E27FC236}">
                <a16:creationId xmlns:a16="http://schemas.microsoft.com/office/drawing/2014/main" id="{1F79BD80-7C1F-1F34-A9D4-3F07D35BDA6F}"/>
              </a:ext>
            </a:extLst>
          </p:cNvPr>
          <p:cNvGrpSpPr/>
          <p:nvPr/>
        </p:nvGrpSpPr>
        <p:grpSpPr>
          <a:xfrm>
            <a:off x="4002345" y="1938132"/>
            <a:ext cx="3647767" cy="2923117"/>
            <a:chOff x="4002345" y="1582532"/>
            <a:chExt cx="3647767" cy="3313932"/>
          </a:xfrm>
        </p:grpSpPr>
        <p:sp>
          <p:nvSpPr>
            <p:cNvPr id="5" name="Rectangle: Rounded Corners 4">
              <a:extLst>
                <a:ext uri="{FF2B5EF4-FFF2-40B4-BE49-F238E27FC236}">
                  <a16:creationId xmlns:a16="http://schemas.microsoft.com/office/drawing/2014/main" id="{80965086-32D9-76C7-1AEF-65B30FB22375}"/>
                </a:ext>
              </a:extLst>
            </p:cNvPr>
            <p:cNvSpPr/>
            <p:nvPr/>
          </p:nvSpPr>
          <p:spPr>
            <a:xfrm>
              <a:off x="4002345" y="1582532"/>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atin typeface="Josefin Sans" pitchFamily="2" charset="0"/>
                </a:rPr>
                <a:t>Models Building</a:t>
              </a:r>
            </a:p>
          </p:txBody>
        </p:sp>
        <p:sp>
          <p:nvSpPr>
            <p:cNvPr id="6" name="Rectangle: Rounded Corners 5">
              <a:extLst>
                <a:ext uri="{FF2B5EF4-FFF2-40B4-BE49-F238E27FC236}">
                  <a16:creationId xmlns:a16="http://schemas.microsoft.com/office/drawing/2014/main" id="{D42E50F4-0D1E-534B-B6E0-3B5CB7E5AB4D}"/>
                </a:ext>
              </a:extLst>
            </p:cNvPr>
            <p:cNvSpPr/>
            <p:nvPr/>
          </p:nvSpPr>
          <p:spPr>
            <a:xfrm>
              <a:off x="4002345" y="2821396"/>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Models Training &amp; Testing</a:t>
              </a:r>
              <a:endParaRPr lang="en-US">
                <a:latin typeface="Josefin Sans" pitchFamily="2" charset="0"/>
              </a:endParaRPr>
            </a:p>
          </p:txBody>
        </p:sp>
        <p:sp>
          <p:nvSpPr>
            <p:cNvPr id="7" name="Rectangle: Rounded Corners 6">
              <a:extLst>
                <a:ext uri="{FF2B5EF4-FFF2-40B4-BE49-F238E27FC236}">
                  <a16:creationId xmlns:a16="http://schemas.microsoft.com/office/drawing/2014/main" id="{20AAD3E2-B71B-B9F4-6BCA-3FEC5A13C60C}"/>
                </a:ext>
              </a:extLst>
            </p:cNvPr>
            <p:cNvSpPr/>
            <p:nvPr/>
          </p:nvSpPr>
          <p:spPr>
            <a:xfrm>
              <a:off x="4002345" y="4060260"/>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Accuracy Evaluation</a:t>
              </a:r>
              <a:endParaRPr lang="en-US">
                <a:latin typeface="Josefin Sans" pitchFamily="2" charset="0"/>
              </a:endParaRPr>
            </a:p>
          </p:txBody>
        </p:sp>
        <p:cxnSp>
          <p:nvCxnSpPr>
            <p:cNvPr id="8" name="Straight Arrow Connector 7">
              <a:extLst>
                <a:ext uri="{FF2B5EF4-FFF2-40B4-BE49-F238E27FC236}">
                  <a16:creationId xmlns:a16="http://schemas.microsoft.com/office/drawing/2014/main" id="{4B55661E-7710-D9D7-F0ED-B8A5E9F969D7}"/>
                </a:ext>
              </a:extLst>
            </p:cNvPr>
            <p:cNvCxnSpPr>
              <a:stCxn id="5" idx="2"/>
              <a:endCxn id="6" idx="0"/>
            </p:cNvCxnSpPr>
            <p:nvPr/>
          </p:nvCxnSpPr>
          <p:spPr>
            <a:xfrm>
              <a:off x="5826229" y="2418736"/>
              <a:ext cx="0" cy="402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48B2255-87F7-74F1-D028-7C11C2C575E3}"/>
                </a:ext>
              </a:extLst>
            </p:cNvPr>
            <p:cNvCxnSpPr/>
            <p:nvPr/>
          </p:nvCxnSpPr>
          <p:spPr>
            <a:xfrm>
              <a:off x="5841591" y="3657600"/>
              <a:ext cx="0" cy="402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354A1BCC-50D0-158D-6A2B-D6763E2247D0}"/>
              </a:ext>
            </a:extLst>
          </p:cNvPr>
          <p:cNvGrpSpPr/>
          <p:nvPr/>
        </p:nvGrpSpPr>
        <p:grpSpPr>
          <a:xfrm>
            <a:off x="4002344" y="4861249"/>
            <a:ext cx="3647767" cy="1238864"/>
            <a:chOff x="4002345" y="3657600"/>
            <a:chExt cx="3647767" cy="1238864"/>
          </a:xfrm>
        </p:grpSpPr>
        <p:sp>
          <p:nvSpPr>
            <p:cNvPr id="26" name="Rectangle: Rounded Corners 25">
              <a:extLst>
                <a:ext uri="{FF2B5EF4-FFF2-40B4-BE49-F238E27FC236}">
                  <a16:creationId xmlns:a16="http://schemas.microsoft.com/office/drawing/2014/main" id="{A1D9958C-9A75-1345-AE5D-B3F063D3B98E}"/>
                </a:ext>
              </a:extLst>
            </p:cNvPr>
            <p:cNvSpPr/>
            <p:nvPr/>
          </p:nvSpPr>
          <p:spPr>
            <a:xfrm>
              <a:off x="4002345" y="4060260"/>
              <a:ext cx="3647767" cy="8362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t>Best Model Selection</a:t>
              </a:r>
              <a:endParaRPr lang="en-US">
                <a:latin typeface="Josefin Sans" pitchFamily="2" charset="0"/>
              </a:endParaRPr>
            </a:p>
          </p:txBody>
        </p:sp>
        <p:cxnSp>
          <p:nvCxnSpPr>
            <p:cNvPr id="28" name="Straight Arrow Connector 27">
              <a:extLst>
                <a:ext uri="{FF2B5EF4-FFF2-40B4-BE49-F238E27FC236}">
                  <a16:creationId xmlns:a16="http://schemas.microsoft.com/office/drawing/2014/main" id="{9BB14034-87EE-A7FF-90F4-795D463D45EE}"/>
                </a:ext>
              </a:extLst>
            </p:cNvPr>
            <p:cNvCxnSpPr/>
            <p:nvPr/>
          </p:nvCxnSpPr>
          <p:spPr>
            <a:xfrm>
              <a:off x="5841591" y="3657600"/>
              <a:ext cx="0" cy="402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299626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3C73A840-C56B-98F7-0DAD-E39A6E190AEA}"/>
              </a:ext>
            </a:extLst>
          </p:cNvPr>
          <p:cNvPicPr>
            <a:picLocks noGrp="1" noChangeAspect="1"/>
          </p:cNvPicPr>
          <p:nvPr>
            <p:ph idx="1"/>
          </p:nvPr>
        </p:nvPicPr>
        <p:blipFill>
          <a:blip r:embed="rId2"/>
          <a:stretch>
            <a:fillRect/>
          </a:stretch>
        </p:blipFill>
        <p:spPr>
          <a:xfrm>
            <a:off x="667421" y="1822619"/>
            <a:ext cx="10857157" cy="4355156"/>
          </a:xfrm>
          <a:prstGeom prst="rect">
            <a:avLst/>
          </a:prstGeom>
        </p:spPr>
      </p:pic>
      <p:sp>
        <p:nvSpPr>
          <p:cNvPr id="8" name="Title 1">
            <a:extLst>
              <a:ext uri="{FF2B5EF4-FFF2-40B4-BE49-F238E27FC236}">
                <a16:creationId xmlns:a16="http://schemas.microsoft.com/office/drawing/2014/main" id="{B9389F24-AD10-C3B6-B510-1225A9925C9B}"/>
              </a:ext>
            </a:extLst>
          </p:cNvPr>
          <p:cNvSpPr txBox="1">
            <a:spLocks/>
          </p:cNvSpPr>
          <p:nvPr/>
        </p:nvSpPr>
        <p:spPr>
          <a:xfrm>
            <a:off x="895198" y="2127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solidFill>
                  <a:schemeClr val="tx2"/>
                </a:solidFill>
              </a:rPr>
              <a:t>Milestone Structure &amp; Files Implemented </a:t>
            </a:r>
            <a:endParaRPr lang="ar-SA"/>
          </a:p>
        </p:txBody>
      </p:sp>
    </p:spTree>
    <p:extLst>
      <p:ext uri="{BB962C8B-B14F-4D97-AF65-F5344CB8AC3E}">
        <p14:creationId xmlns:p14="http://schemas.microsoft.com/office/powerpoint/2010/main" val="9815864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EF429-C212-621E-5457-5EE0BDD614C4}"/>
              </a:ext>
            </a:extLst>
          </p:cNvPr>
          <p:cNvSpPr>
            <a:spLocks noGrp="1"/>
          </p:cNvSpPr>
          <p:nvPr>
            <p:ph type="title"/>
          </p:nvPr>
        </p:nvSpPr>
        <p:spPr/>
        <p:txBody>
          <a:bodyPr/>
          <a:lstStyle/>
          <a:p>
            <a:pPr algn="ctr"/>
            <a:r>
              <a:rPr lang="en-US">
                <a:solidFill>
                  <a:schemeClr val="tx2"/>
                </a:solidFill>
              </a:rPr>
              <a:t>Progressive Feature Strategy</a:t>
            </a:r>
            <a:br>
              <a:rPr lang="ar-SA"/>
            </a:br>
            <a:endParaRPr lang="ar-SA"/>
          </a:p>
        </p:txBody>
      </p:sp>
      <p:sp>
        <p:nvSpPr>
          <p:cNvPr id="3" name="Content Placeholder 2">
            <a:extLst>
              <a:ext uri="{FF2B5EF4-FFF2-40B4-BE49-F238E27FC236}">
                <a16:creationId xmlns:a16="http://schemas.microsoft.com/office/drawing/2014/main" id="{DC1E8CB2-450F-4A90-723C-E98ED1897FD0}"/>
              </a:ext>
            </a:extLst>
          </p:cNvPr>
          <p:cNvSpPr>
            <a:spLocks noGrp="1"/>
          </p:cNvSpPr>
          <p:nvPr>
            <p:ph idx="1"/>
          </p:nvPr>
        </p:nvSpPr>
        <p:spPr>
          <a:xfrm>
            <a:off x="256478" y="1572322"/>
            <a:ext cx="11097322" cy="3969834"/>
          </a:xfrm>
        </p:spPr>
        <p:txBody>
          <a:bodyPr/>
          <a:lstStyle/>
          <a:p>
            <a:r>
              <a:rPr lang="en-US"/>
              <a:t>Stages:</a:t>
            </a:r>
          </a:p>
          <a:p>
            <a:endParaRPr lang="en-US"/>
          </a:p>
          <a:p>
            <a:r>
              <a:rPr lang="en-US"/>
              <a:t> 1) Critical </a:t>
            </a:r>
            <a:r>
              <a:rPr lang="en-US">
                <a:sym typeface="Wingdings" panose="05000000000000000000" pitchFamily="2" charset="2"/>
              </a:rPr>
              <a:t> </a:t>
            </a:r>
            <a:r>
              <a:rPr lang="en-US" sz="2000"/>
              <a:t>Historical patterns, Time features, Store type, Holiday</a:t>
            </a:r>
          </a:p>
          <a:p>
            <a:r>
              <a:rPr lang="en-US">
                <a:sym typeface="Wingdings" panose="05000000000000000000" pitchFamily="2" charset="2"/>
              </a:rPr>
              <a:t>2) With Promotions  </a:t>
            </a:r>
            <a:r>
              <a:rPr lang="en-US" sz="2000"/>
              <a:t>capture weekly and daily patterns </a:t>
            </a:r>
            <a:endParaRPr lang="en-US" sz="2000">
              <a:sym typeface="Wingdings" panose="05000000000000000000" pitchFamily="2" charset="2"/>
            </a:endParaRPr>
          </a:p>
          <a:p>
            <a:r>
              <a:rPr lang="en-US">
                <a:sym typeface="Wingdings" panose="05000000000000000000" pitchFamily="2" charset="2"/>
              </a:rPr>
              <a:t>3) With Temporal  </a:t>
            </a:r>
            <a:r>
              <a:rPr lang="en-US" sz="2000"/>
              <a:t>Test if promotional information improves predictions</a:t>
            </a:r>
            <a:endParaRPr lang="en-US" sz="2000">
              <a:sym typeface="Wingdings" panose="05000000000000000000" pitchFamily="2" charset="2"/>
            </a:endParaRPr>
          </a:p>
          <a:p>
            <a:r>
              <a:rPr lang="en-US">
                <a:sym typeface="Wingdings" panose="05000000000000000000" pitchFamily="2" charset="2"/>
              </a:rPr>
              <a:t>4) With External  </a:t>
            </a:r>
            <a:r>
              <a:rPr lang="en-US" sz="2000"/>
              <a:t>Test if external factors improve predictions</a:t>
            </a:r>
            <a:endParaRPr lang="en-US" sz="2000">
              <a:sym typeface="Wingdings" panose="05000000000000000000" pitchFamily="2" charset="2"/>
            </a:endParaRPr>
          </a:p>
          <a:p>
            <a:r>
              <a:rPr lang="en-US">
                <a:sym typeface="Wingdings" panose="05000000000000000000" pitchFamily="2" charset="2"/>
              </a:rPr>
              <a:t>5) Full  </a:t>
            </a:r>
            <a:r>
              <a:rPr lang="en-US" sz="2000"/>
              <a:t>Advanced features capturing sales dynamics</a:t>
            </a:r>
            <a:endParaRPr lang="en-US" sz="2000">
              <a:sym typeface="Wingdings" panose="05000000000000000000" pitchFamily="2" charset="2"/>
            </a:endParaRPr>
          </a:p>
          <a:p>
            <a:endParaRPr lang="ar-SA"/>
          </a:p>
        </p:txBody>
      </p:sp>
    </p:spTree>
    <p:extLst>
      <p:ext uri="{BB962C8B-B14F-4D97-AF65-F5344CB8AC3E}">
        <p14:creationId xmlns:p14="http://schemas.microsoft.com/office/powerpoint/2010/main" val="25450844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9DBCD342-C853-49B8-9D89-72C08057C62F}"/>
              </a:ext>
            </a:extLst>
          </p:cNvPr>
          <p:cNvPicPr>
            <a:picLocks noGrp="1" noChangeAspect="1"/>
          </p:cNvPicPr>
          <p:nvPr>
            <p:ph idx="1"/>
          </p:nvPr>
        </p:nvPicPr>
        <p:blipFill>
          <a:blip r:embed="rId2"/>
          <a:stretch>
            <a:fillRect/>
          </a:stretch>
        </p:blipFill>
        <p:spPr>
          <a:xfrm>
            <a:off x="729148" y="3353363"/>
            <a:ext cx="5047635" cy="2987112"/>
          </a:xfrm>
          <a:prstGeom prst="rect">
            <a:avLst/>
          </a:prstGeom>
          <a:ln>
            <a:noFill/>
          </a:ln>
          <a:effectLst>
            <a:softEdge rad="112500"/>
          </a:effectLst>
        </p:spPr>
      </p:pic>
      <p:sp>
        <p:nvSpPr>
          <p:cNvPr id="6" name="Title 1">
            <a:extLst>
              <a:ext uri="{FF2B5EF4-FFF2-40B4-BE49-F238E27FC236}">
                <a16:creationId xmlns:a16="http://schemas.microsoft.com/office/drawing/2014/main" id="{F5A693AF-B4EE-BAB2-67BE-56256CE8F579}"/>
              </a:ext>
            </a:extLst>
          </p:cNvPr>
          <p:cNvSpPr txBox="1">
            <a:spLocks/>
          </p:cNvSpPr>
          <p:nvPr/>
        </p:nvSpPr>
        <p:spPr>
          <a:xfrm>
            <a:off x="409932" y="1690688"/>
            <a:ext cx="5686068" cy="39810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ar-SA"/>
          </a:p>
        </p:txBody>
      </p:sp>
      <p:sp>
        <p:nvSpPr>
          <p:cNvPr id="7" name="Title 1">
            <a:extLst>
              <a:ext uri="{FF2B5EF4-FFF2-40B4-BE49-F238E27FC236}">
                <a16:creationId xmlns:a16="http://schemas.microsoft.com/office/drawing/2014/main" id="{8BEF7F84-5739-5F69-682A-15B48A2F1371}"/>
              </a:ext>
            </a:extLst>
          </p:cNvPr>
          <p:cNvSpPr txBox="1">
            <a:spLocks/>
          </p:cNvSpPr>
          <p:nvPr/>
        </p:nvSpPr>
        <p:spPr>
          <a:xfrm>
            <a:off x="895198" y="2127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solidFill>
                  <a:schemeClr val="tx2"/>
                </a:solidFill>
              </a:rPr>
              <a:t>Progressive Feature Strategy</a:t>
            </a:r>
            <a:endParaRPr lang="ar-SA"/>
          </a:p>
        </p:txBody>
      </p:sp>
      <p:sp>
        <p:nvSpPr>
          <p:cNvPr id="8" name="Content Placeholder 6">
            <a:extLst>
              <a:ext uri="{FF2B5EF4-FFF2-40B4-BE49-F238E27FC236}">
                <a16:creationId xmlns:a16="http://schemas.microsoft.com/office/drawing/2014/main" id="{3F433785-DA6B-010A-2931-7A12A04EC262}"/>
              </a:ext>
            </a:extLst>
          </p:cNvPr>
          <p:cNvSpPr txBox="1">
            <a:spLocks/>
          </p:cNvSpPr>
          <p:nvPr/>
        </p:nvSpPr>
        <p:spPr>
          <a:xfrm>
            <a:off x="838200" y="1690688"/>
            <a:ext cx="5257800" cy="16085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tx2"/>
                </a:solidFill>
              </a:rPr>
              <a:t>Previous models were trained through 5 stages with increasing complexity               </a:t>
            </a:r>
            <a:r>
              <a:rPr lang="en-US">
                <a:solidFill>
                  <a:schemeClr val="tx2"/>
                </a:solidFill>
                <a:sym typeface="Wingdings" panose="05000000000000000000" pitchFamily="2" charset="2"/>
              </a:rPr>
              <a:t></a:t>
            </a:r>
            <a:endParaRPr lang="ar-SA"/>
          </a:p>
        </p:txBody>
      </p:sp>
      <p:pic>
        <p:nvPicPr>
          <p:cNvPr id="27" name="Picture 26" descr="A computer screen shot of a program&#10;&#10;AI-generated content may be incorrect.">
            <a:extLst>
              <a:ext uri="{FF2B5EF4-FFF2-40B4-BE49-F238E27FC236}">
                <a16:creationId xmlns:a16="http://schemas.microsoft.com/office/drawing/2014/main" id="{715A95FF-5B13-F30D-9D29-FD9C8965F4A6}"/>
              </a:ext>
            </a:extLst>
          </p:cNvPr>
          <p:cNvPicPr>
            <a:picLocks noChangeAspect="1"/>
          </p:cNvPicPr>
          <p:nvPr/>
        </p:nvPicPr>
        <p:blipFill>
          <a:blip r:embed="rId3"/>
          <a:stretch>
            <a:fillRect/>
          </a:stretch>
        </p:blipFill>
        <p:spPr>
          <a:xfrm>
            <a:off x="6152998" y="1690688"/>
            <a:ext cx="6039002" cy="4638436"/>
          </a:xfrm>
          <a:prstGeom prst="rect">
            <a:avLst/>
          </a:prstGeom>
        </p:spPr>
      </p:pic>
    </p:spTree>
    <p:extLst>
      <p:ext uri="{BB962C8B-B14F-4D97-AF65-F5344CB8AC3E}">
        <p14:creationId xmlns:p14="http://schemas.microsoft.com/office/powerpoint/2010/main" val="4054194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406C1-58D9-147A-52B5-4A00C2A95CDF}"/>
              </a:ext>
            </a:extLst>
          </p:cNvPr>
          <p:cNvSpPr>
            <a:spLocks noGrp="1"/>
          </p:cNvSpPr>
          <p:nvPr>
            <p:ph type="title"/>
          </p:nvPr>
        </p:nvSpPr>
        <p:spPr/>
        <p:txBody>
          <a:bodyPr anchor="ctr">
            <a:normAutofit/>
          </a:bodyPr>
          <a:lstStyle/>
          <a:p>
            <a:pPr algn="ctr"/>
            <a:r>
              <a:rPr lang="en-US" sz="4000"/>
              <a:t>Advanced Store Type Models</a:t>
            </a:r>
            <a:endParaRPr lang="ar-SA" sz="4000"/>
          </a:p>
        </p:txBody>
      </p:sp>
      <p:sp>
        <p:nvSpPr>
          <p:cNvPr id="3" name="Content Placeholder 2">
            <a:extLst>
              <a:ext uri="{FF2B5EF4-FFF2-40B4-BE49-F238E27FC236}">
                <a16:creationId xmlns:a16="http://schemas.microsoft.com/office/drawing/2014/main" id="{F29E36EF-C3C8-2DD2-BB3B-94B8D9A7531A}"/>
              </a:ext>
            </a:extLst>
          </p:cNvPr>
          <p:cNvSpPr>
            <a:spLocks noGrp="1"/>
          </p:cNvSpPr>
          <p:nvPr>
            <p:ph sz="half" idx="1"/>
          </p:nvPr>
        </p:nvSpPr>
        <p:spPr>
          <a:xfrm>
            <a:off x="838200" y="3012237"/>
            <a:ext cx="4899660" cy="2380159"/>
          </a:xfrm>
        </p:spPr>
        <p:txBody>
          <a:bodyPr anchor="ctr">
            <a:normAutofit/>
          </a:bodyPr>
          <a:lstStyle/>
          <a:p>
            <a:pPr marL="0" indent="0" algn="ctr">
              <a:buNone/>
            </a:pPr>
            <a:r>
              <a:rPr lang="en-US" sz="2000"/>
              <a:t>Type A Dominates (over half the data)</a:t>
            </a:r>
          </a:p>
          <a:p>
            <a:pPr marL="0" indent="0" algn="ctr">
              <a:buNone/>
            </a:pPr>
            <a:r>
              <a:rPr lang="en-US" sz="2000"/>
              <a:t>Type B Substantial (near 40 %)</a:t>
            </a:r>
          </a:p>
          <a:p>
            <a:pPr marL="0" indent="0" algn="ctr">
              <a:buNone/>
            </a:pPr>
            <a:r>
              <a:rPr lang="en-US" sz="2000"/>
              <a:t>Type C Smallest (only 10 %)</a:t>
            </a:r>
            <a:endParaRPr lang="ar-SA" sz="2000"/>
          </a:p>
        </p:txBody>
      </p:sp>
      <p:pic>
        <p:nvPicPr>
          <p:cNvPr id="19" name="Content Placeholder 18" descr="A screenshot of a computer&#10;&#10;AI-generated content may be incorrect.">
            <a:extLst>
              <a:ext uri="{FF2B5EF4-FFF2-40B4-BE49-F238E27FC236}">
                <a16:creationId xmlns:a16="http://schemas.microsoft.com/office/drawing/2014/main" id="{9D6EACE9-31E0-6282-1F04-35D9DDFB7806}"/>
              </a:ext>
            </a:extLst>
          </p:cNvPr>
          <p:cNvPicPr>
            <a:picLocks noGrp="1" noChangeAspect="1"/>
          </p:cNvPicPr>
          <p:nvPr>
            <p:ph sz="half" idx="2"/>
          </p:nvPr>
        </p:nvPicPr>
        <p:blipFill>
          <a:blip r:embed="rId2"/>
          <a:stretch>
            <a:fillRect/>
          </a:stretch>
        </p:blipFill>
        <p:spPr>
          <a:xfrm>
            <a:off x="5737860" y="3437297"/>
            <a:ext cx="5646420" cy="2171402"/>
          </a:xfrm>
          <a:prstGeom prst="rect">
            <a:avLst/>
          </a:prstGeom>
          <a:ln>
            <a:noFill/>
          </a:ln>
          <a:effectLst>
            <a:softEdge rad="112500"/>
          </a:effectLst>
        </p:spPr>
      </p:pic>
      <p:sp>
        <p:nvSpPr>
          <p:cNvPr id="25" name="Content Placeholder 2">
            <a:extLst>
              <a:ext uri="{FF2B5EF4-FFF2-40B4-BE49-F238E27FC236}">
                <a16:creationId xmlns:a16="http://schemas.microsoft.com/office/drawing/2014/main" id="{4C1CF3F8-A994-607C-FE17-78F0A743271D}"/>
              </a:ext>
            </a:extLst>
          </p:cNvPr>
          <p:cNvSpPr txBox="1">
            <a:spLocks/>
          </p:cNvSpPr>
          <p:nvPr/>
        </p:nvSpPr>
        <p:spPr>
          <a:xfrm>
            <a:off x="1017616" y="1771356"/>
            <a:ext cx="10336184" cy="1024578"/>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a:t>Also added more specific Train separate models for each store type (A, B, C).</a:t>
            </a:r>
          </a:p>
        </p:txBody>
      </p:sp>
    </p:spTree>
    <p:extLst>
      <p:ext uri="{BB962C8B-B14F-4D97-AF65-F5344CB8AC3E}">
        <p14:creationId xmlns:p14="http://schemas.microsoft.com/office/powerpoint/2010/main" val="42838589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05C27-83C4-3E5C-4450-FBC5C29343E4}"/>
              </a:ext>
            </a:extLst>
          </p:cNvPr>
          <p:cNvSpPr>
            <a:spLocks noGrp="1"/>
          </p:cNvSpPr>
          <p:nvPr>
            <p:ph type="title"/>
          </p:nvPr>
        </p:nvSpPr>
        <p:spPr/>
        <p:txBody>
          <a:bodyPr/>
          <a:lstStyle/>
          <a:p>
            <a:pPr algn="ctr"/>
            <a:r>
              <a:rPr lang="en-US"/>
              <a:t>Models Evaluation &amp; Comparison </a:t>
            </a:r>
            <a:endParaRPr lang="ar-SA"/>
          </a:p>
        </p:txBody>
      </p:sp>
      <p:sp>
        <p:nvSpPr>
          <p:cNvPr id="3" name="Content Placeholder 2">
            <a:extLst>
              <a:ext uri="{FF2B5EF4-FFF2-40B4-BE49-F238E27FC236}">
                <a16:creationId xmlns:a16="http://schemas.microsoft.com/office/drawing/2014/main" id="{4E55BCC2-7BB4-4BD0-30D8-87780CC9AD6D}"/>
              </a:ext>
            </a:extLst>
          </p:cNvPr>
          <p:cNvSpPr>
            <a:spLocks noGrp="1"/>
          </p:cNvSpPr>
          <p:nvPr>
            <p:ph sz="half" idx="1"/>
          </p:nvPr>
        </p:nvSpPr>
        <p:spPr>
          <a:xfrm>
            <a:off x="838200" y="1825625"/>
            <a:ext cx="5257800" cy="4351338"/>
          </a:xfrm>
        </p:spPr>
        <p:txBody>
          <a:bodyPr/>
          <a:lstStyle/>
          <a:p>
            <a:r>
              <a:rPr lang="en-US"/>
              <a:t> Evaluation Metrices used:</a:t>
            </a:r>
          </a:p>
          <a:p>
            <a:endParaRPr lang="en-US"/>
          </a:p>
          <a:p>
            <a:r>
              <a:rPr lang="pt-BR"/>
              <a:t>MAE </a:t>
            </a:r>
            <a:r>
              <a:rPr lang="pt-BR">
                <a:sym typeface="Wingdings" panose="05000000000000000000" pitchFamily="2" charset="2"/>
              </a:rPr>
              <a:t> </a:t>
            </a:r>
            <a:r>
              <a:rPr lang="en-US" sz="2000"/>
              <a:t>Measures average prediction error</a:t>
            </a:r>
            <a:endParaRPr lang="pt-BR" sz="2000"/>
          </a:p>
          <a:p>
            <a:r>
              <a:rPr lang="pt-BR"/>
              <a:t>RMSE </a:t>
            </a:r>
            <a:r>
              <a:rPr lang="pt-BR">
                <a:sym typeface="Wingdings" panose="05000000000000000000" pitchFamily="2" charset="2"/>
              </a:rPr>
              <a:t> </a:t>
            </a:r>
            <a:r>
              <a:rPr lang="en-US" sz="2000"/>
              <a:t>penalizes large errors more heavily</a:t>
            </a:r>
            <a:endParaRPr lang="pt-BR" sz="2000"/>
          </a:p>
          <a:p>
            <a:r>
              <a:rPr lang="pt-BR"/>
              <a:t>R2 score </a:t>
            </a:r>
            <a:r>
              <a:rPr lang="pt-BR">
                <a:sym typeface="Wingdings" panose="05000000000000000000" pitchFamily="2" charset="2"/>
              </a:rPr>
              <a:t> </a:t>
            </a:r>
            <a:r>
              <a:rPr lang="en-US" sz="2000"/>
              <a:t>explains how well the model fits the data</a:t>
            </a:r>
          </a:p>
          <a:p>
            <a:endParaRPr lang="ar-SA"/>
          </a:p>
        </p:txBody>
      </p:sp>
      <p:pic>
        <p:nvPicPr>
          <p:cNvPr id="6" name="Content Placeholder 5">
            <a:extLst>
              <a:ext uri="{FF2B5EF4-FFF2-40B4-BE49-F238E27FC236}">
                <a16:creationId xmlns:a16="http://schemas.microsoft.com/office/drawing/2014/main" id="{7FAD6D8C-F77A-5F8F-2354-88DA2CE5B631}"/>
              </a:ext>
            </a:extLst>
          </p:cNvPr>
          <p:cNvPicPr>
            <a:picLocks noGrp="1" noChangeAspect="1"/>
          </p:cNvPicPr>
          <p:nvPr>
            <p:ph sz="half" idx="2"/>
          </p:nvPr>
        </p:nvPicPr>
        <p:blipFill>
          <a:blip r:embed="rId2"/>
          <a:stretch>
            <a:fillRect/>
          </a:stretch>
        </p:blipFill>
        <p:spPr>
          <a:xfrm>
            <a:off x="6467707" y="2185640"/>
            <a:ext cx="5541064" cy="3010828"/>
          </a:xfrm>
          <a:prstGeom prst="rect">
            <a:avLst/>
          </a:prstGeom>
        </p:spPr>
      </p:pic>
    </p:spTree>
    <p:extLst>
      <p:ext uri="{BB962C8B-B14F-4D97-AF65-F5344CB8AC3E}">
        <p14:creationId xmlns:p14="http://schemas.microsoft.com/office/powerpoint/2010/main" val="28480490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1046-75E3-C40D-43BA-9B43D9FEA18F}"/>
              </a:ext>
            </a:extLst>
          </p:cNvPr>
          <p:cNvSpPr>
            <a:spLocks noGrp="1"/>
          </p:cNvSpPr>
          <p:nvPr>
            <p:ph type="title"/>
          </p:nvPr>
        </p:nvSpPr>
        <p:spPr>
          <a:xfrm>
            <a:off x="838200" y="365125"/>
            <a:ext cx="10515600" cy="1325563"/>
          </a:xfrm>
        </p:spPr>
        <p:txBody>
          <a:bodyPr/>
          <a:lstStyle/>
          <a:p>
            <a:pPr algn="ctr"/>
            <a:r>
              <a:rPr lang="en-US"/>
              <a:t>Models Evaluation &amp; Comparison </a:t>
            </a:r>
            <a:endParaRPr lang="ar-SA"/>
          </a:p>
        </p:txBody>
      </p:sp>
      <p:sp>
        <p:nvSpPr>
          <p:cNvPr id="3" name="Content Placeholder 2">
            <a:extLst>
              <a:ext uri="{FF2B5EF4-FFF2-40B4-BE49-F238E27FC236}">
                <a16:creationId xmlns:a16="http://schemas.microsoft.com/office/drawing/2014/main" id="{3E0FDD38-23FF-64AC-F824-FEA48968F8C5}"/>
              </a:ext>
            </a:extLst>
          </p:cNvPr>
          <p:cNvSpPr>
            <a:spLocks noGrp="1"/>
          </p:cNvSpPr>
          <p:nvPr>
            <p:ph sz="half" idx="1"/>
          </p:nvPr>
        </p:nvSpPr>
        <p:spPr>
          <a:xfrm>
            <a:off x="547254" y="3321916"/>
            <a:ext cx="5181600" cy="2855046"/>
          </a:xfrm>
        </p:spPr>
        <p:txBody>
          <a:bodyPr/>
          <a:lstStyle/>
          <a:p>
            <a:pPr marL="0" indent="0">
              <a:buNone/>
            </a:pPr>
            <a:r>
              <a:rPr lang="en-US"/>
              <a:t>According to this comparison, we chose the Random-Forest Model in the stage (Full) as the best model ready for deployment.</a:t>
            </a:r>
            <a:endParaRPr lang="ar-SA"/>
          </a:p>
        </p:txBody>
      </p:sp>
      <p:pic>
        <p:nvPicPr>
          <p:cNvPr id="6" name="Content Placeholder 5" descr="A screenshot of a graph&#10;&#10;AI-generated content may be incorrect.">
            <a:extLst>
              <a:ext uri="{FF2B5EF4-FFF2-40B4-BE49-F238E27FC236}">
                <a16:creationId xmlns:a16="http://schemas.microsoft.com/office/drawing/2014/main" id="{F4C2C502-14C0-A06B-CC29-7B8C3C92963E}"/>
              </a:ext>
            </a:extLst>
          </p:cNvPr>
          <p:cNvPicPr>
            <a:picLocks noGrp="1" noChangeAspect="1"/>
          </p:cNvPicPr>
          <p:nvPr>
            <p:ph sz="half" idx="2"/>
          </p:nvPr>
        </p:nvPicPr>
        <p:blipFill>
          <a:blip r:embed="rId2"/>
          <a:stretch>
            <a:fillRect/>
          </a:stretch>
        </p:blipFill>
        <p:spPr>
          <a:xfrm>
            <a:off x="5922958" y="3304019"/>
            <a:ext cx="5721788" cy="2747963"/>
          </a:xfrm>
          <a:prstGeom prst="rect">
            <a:avLst/>
          </a:prstGeom>
          <a:ln>
            <a:noFill/>
          </a:ln>
          <a:effectLst>
            <a:softEdge rad="112500"/>
          </a:effectLst>
        </p:spPr>
      </p:pic>
      <p:sp>
        <p:nvSpPr>
          <p:cNvPr id="10" name="Content Placeholder 2">
            <a:extLst>
              <a:ext uri="{FF2B5EF4-FFF2-40B4-BE49-F238E27FC236}">
                <a16:creationId xmlns:a16="http://schemas.microsoft.com/office/drawing/2014/main" id="{319CD8D7-20BE-6F93-660B-AA455611008F}"/>
              </a:ext>
            </a:extLst>
          </p:cNvPr>
          <p:cNvSpPr txBox="1">
            <a:spLocks/>
          </p:cNvSpPr>
          <p:nvPr/>
        </p:nvSpPr>
        <p:spPr>
          <a:xfrm>
            <a:off x="547254" y="1976581"/>
            <a:ext cx="11346736" cy="10735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It is obvious in the figure that all the models show massive improvement with the last feature stage (Full) stage.</a:t>
            </a:r>
          </a:p>
        </p:txBody>
      </p:sp>
    </p:spTree>
    <p:extLst>
      <p:ext uri="{BB962C8B-B14F-4D97-AF65-F5344CB8AC3E}">
        <p14:creationId xmlns:p14="http://schemas.microsoft.com/office/powerpoint/2010/main" val="24814829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E2CAC-42AD-8ECC-F0E2-7D2400F81217}"/>
              </a:ext>
            </a:extLst>
          </p:cNvPr>
          <p:cNvSpPr>
            <a:spLocks noGrp="1"/>
          </p:cNvSpPr>
          <p:nvPr>
            <p:ph type="title"/>
          </p:nvPr>
        </p:nvSpPr>
        <p:spPr>
          <a:xfrm>
            <a:off x="838200" y="303492"/>
            <a:ext cx="10515600" cy="1325563"/>
          </a:xfrm>
        </p:spPr>
        <p:txBody>
          <a:bodyPr/>
          <a:lstStyle/>
          <a:p>
            <a:pPr algn="ctr"/>
            <a:r>
              <a:rPr lang="en-US"/>
              <a:t>Feature Importance Analysis</a:t>
            </a:r>
            <a:endParaRPr lang="ar-SA"/>
          </a:p>
        </p:txBody>
      </p:sp>
      <p:sp>
        <p:nvSpPr>
          <p:cNvPr id="3" name="Content Placeholder 2">
            <a:extLst>
              <a:ext uri="{FF2B5EF4-FFF2-40B4-BE49-F238E27FC236}">
                <a16:creationId xmlns:a16="http://schemas.microsoft.com/office/drawing/2014/main" id="{4364D9CD-86B4-5B55-4C67-58433672053C}"/>
              </a:ext>
            </a:extLst>
          </p:cNvPr>
          <p:cNvSpPr>
            <a:spLocks noGrp="1"/>
          </p:cNvSpPr>
          <p:nvPr>
            <p:ph sz="half" idx="1"/>
          </p:nvPr>
        </p:nvSpPr>
        <p:spPr>
          <a:xfrm>
            <a:off x="2523378" y="1468055"/>
            <a:ext cx="7145244" cy="783760"/>
          </a:xfrm>
        </p:spPr>
        <p:txBody>
          <a:bodyPr>
            <a:normAutofit/>
          </a:bodyPr>
          <a:lstStyle/>
          <a:p>
            <a:r>
              <a:rPr lang="en-US"/>
              <a:t>Top 10 Features for Random-Forest Model.</a:t>
            </a:r>
          </a:p>
          <a:p>
            <a:endParaRPr lang="en-US"/>
          </a:p>
        </p:txBody>
      </p:sp>
      <p:pic>
        <p:nvPicPr>
          <p:cNvPr id="6" name="Content Placeholder 5" descr="A screenshot of a graph&#10;&#10;AI-generated content may be incorrect.">
            <a:extLst>
              <a:ext uri="{FF2B5EF4-FFF2-40B4-BE49-F238E27FC236}">
                <a16:creationId xmlns:a16="http://schemas.microsoft.com/office/drawing/2014/main" id="{8E161AF1-13CE-FE9B-2239-7A96FFE11B49}"/>
              </a:ext>
            </a:extLst>
          </p:cNvPr>
          <p:cNvPicPr>
            <a:picLocks noGrp="1" noChangeAspect="1"/>
          </p:cNvPicPr>
          <p:nvPr>
            <p:ph sz="half" idx="2"/>
          </p:nvPr>
        </p:nvPicPr>
        <p:blipFill>
          <a:blip r:embed="rId2"/>
          <a:stretch>
            <a:fillRect/>
          </a:stretch>
        </p:blipFill>
        <p:spPr>
          <a:xfrm>
            <a:off x="6333667" y="2976746"/>
            <a:ext cx="5394680" cy="3638658"/>
          </a:xfrm>
          <a:prstGeom prst="rect">
            <a:avLst/>
          </a:prstGeom>
        </p:spPr>
      </p:pic>
      <p:sp>
        <p:nvSpPr>
          <p:cNvPr id="7" name="Content Placeholder 2">
            <a:extLst>
              <a:ext uri="{FF2B5EF4-FFF2-40B4-BE49-F238E27FC236}">
                <a16:creationId xmlns:a16="http://schemas.microsoft.com/office/drawing/2014/main" id="{37F30227-36D3-3F15-2C94-9AC582EC6DDD}"/>
              </a:ext>
            </a:extLst>
          </p:cNvPr>
          <p:cNvSpPr txBox="1">
            <a:spLocks/>
          </p:cNvSpPr>
          <p:nvPr/>
        </p:nvSpPr>
        <p:spPr>
          <a:xfrm>
            <a:off x="838201" y="2976745"/>
            <a:ext cx="5020134" cy="15250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Rolling Averages (79% </a:t>
            </a:r>
            <a:r>
              <a:rPr lang="en-US" sz="1800"/>
              <a:t>combined</a:t>
            </a:r>
            <a:r>
              <a:rPr lang="en-US" sz="2400"/>
              <a:t>)</a:t>
            </a:r>
          </a:p>
          <a:p>
            <a:r>
              <a:rPr lang="en-US" sz="2400"/>
              <a:t>Holiday Impact (4.23%)</a:t>
            </a:r>
          </a:p>
          <a:p>
            <a:r>
              <a:rPr lang="en-US" sz="2400"/>
              <a:t>Promotional Limitation (&lt;1%)</a:t>
            </a:r>
          </a:p>
        </p:txBody>
      </p:sp>
      <p:sp>
        <p:nvSpPr>
          <p:cNvPr id="10" name="Content Placeholder 2">
            <a:extLst>
              <a:ext uri="{FF2B5EF4-FFF2-40B4-BE49-F238E27FC236}">
                <a16:creationId xmlns:a16="http://schemas.microsoft.com/office/drawing/2014/main" id="{ED7CD7ED-55A9-5F1E-AE37-0E36EB038CC5}"/>
              </a:ext>
            </a:extLst>
          </p:cNvPr>
          <p:cNvSpPr txBox="1">
            <a:spLocks/>
          </p:cNvSpPr>
          <p:nvPr/>
        </p:nvSpPr>
        <p:spPr>
          <a:xfrm>
            <a:off x="362869" y="2310644"/>
            <a:ext cx="4384289" cy="7837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Business Implications:</a:t>
            </a:r>
          </a:p>
          <a:p>
            <a:endParaRPr lang="en-US"/>
          </a:p>
        </p:txBody>
      </p:sp>
      <p:pic>
        <p:nvPicPr>
          <p:cNvPr id="5" name="Picture 4" descr="A screenshot of a graph&#10;&#10;AI-generated content may be incorrect.">
            <a:extLst>
              <a:ext uri="{FF2B5EF4-FFF2-40B4-BE49-F238E27FC236}">
                <a16:creationId xmlns:a16="http://schemas.microsoft.com/office/drawing/2014/main" id="{5FF6AC11-A1D0-D24A-45FD-3208D2C5606D}"/>
              </a:ext>
            </a:extLst>
          </p:cNvPr>
          <p:cNvPicPr>
            <a:picLocks noChangeAspect="1"/>
          </p:cNvPicPr>
          <p:nvPr/>
        </p:nvPicPr>
        <p:blipFill>
          <a:blip r:embed="rId3"/>
          <a:stretch>
            <a:fillRect/>
          </a:stretch>
        </p:blipFill>
        <p:spPr>
          <a:xfrm>
            <a:off x="838200" y="4501837"/>
            <a:ext cx="4499474" cy="2288225"/>
          </a:xfrm>
          <a:prstGeom prst="rect">
            <a:avLst/>
          </a:prstGeom>
        </p:spPr>
      </p:pic>
    </p:spTree>
    <p:extLst>
      <p:ext uri="{BB962C8B-B14F-4D97-AF65-F5344CB8AC3E}">
        <p14:creationId xmlns:p14="http://schemas.microsoft.com/office/powerpoint/2010/main" val="1478034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189A8-2B1D-F481-937D-E9A5F048FA1E}"/>
              </a:ext>
            </a:extLst>
          </p:cNvPr>
          <p:cNvSpPr>
            <a:spLocks noGrp="1"/>
          </p:cNvSpPr>
          <p:nvPr>
            <p:ph type="title"/>
          </p:nvPr>
        </p:nvSpPr>
        <p:spPr/>
        <p:txBody>
          <a:bodyPr/>
          <a:lstStyle/>
          <a:p>
            <a:pPr algn="ctr"/>
            <a:r>
              <a:rPr lang="en-US"/>
              <a:t>Models Pipeline</a:t>
            </a:r>
            <a:endParaRPr lang="ar-SA"/>
          </a:p>
        </p:txBody>
      </p:sp>
      <p:sp>
        <p:nvSpPr>
          <p:cNvPr id="3" name="Content Placeholder 2">
            <a:extLst>
              <a:ext uri="{FF2B5EF4-FFF2-40B4-BE49-F238E27FC236}">
                <a16:creationId xmlns:a16="http://schemas.microsoft.com/office/drawing/2014/main" id="{28CF758E-ABE0-E243-A656-09C2D7D47187}"/>
              </a:ext>
            </a:extLst>
          </p:cNvPr>
          <p:cNvSpPr>
            <a:spLocks noGrp="1"/>
          </p:cNvSpPr>
          <p:nvPr>
            <p:ph sz="half" idx="1"/>
          </p:nvPr>
        </p:nvSpPr>
        <p:spPr>
          <a:xfrm>
            <a:off x="838200" y="1825625"/>
            <a:ext cx="4012580" cy="4351338"/>
          </a:xfrm>
        </p:spPr>
        <p:txBody>
          <a:bodyPr>
            <a:normAutofit/>
          </a:bodyPr>
          <a:lstStyle/>
          <a:p>
            <a:r>
              <a:rPr lang="en-US"/>
              <a:t>Eventually, we made a Pipeline for running all the steps that contain:</a:t>
            </a:r>
          </a:p>
          <a:p>
            <a:endParaRPr lang="en-US"/>
          </a:p>
          <a:p>
            <a:r>
              <a:rPr lang="en-US" err="1"/>
              <a:t>All_models_results</a:t>
            </a:r>
            <a:r>
              <a:rPr lang="en-US"/>
              <a:t>() </a:t>
            </a:r>
            <a:r>
              <a:rPr lang="en-US" sz="2000"/>
              <a:t>containing features importance</a:t>
            </a:r>
          </a:p>
          <a:p>
            <a:r>
              <a:rPr lang="en-US" err="1"/>
              <a:t>Store_type_models</a:t>
            </a:r>
            <a:r>
              <a:rPr lang="en-US"/>
              <a:t>()</a:t>
            </a:r>
          </a:p>
          <a:p>
            <a:r>
              <a:rPr lang="en-US" err="1"/>
              <a:t>Best_model_results</a:t>
            </a:r>
            <a:r>
              <a:rPr lang="en-US"/>
              <a:t>()</a:t>
            </a:r>
          </a:p>
          <a:p>
            <a:endParaRPr lang="ar-SA"/>
          </a:p>
        </p:txBody>
      </p:sp>
      <p:pic>
        <p:nvPicPr>
          <p:cNvPr id="6" name="Content Placeholder 5" descr="A screenshot of a computer&#10;&#10;AI-generated content may be incorrect.">
            <a:extLst>
              <a:ext uri="{FF2B5EF4-FFF2-40B4-BE49-F238E27FC236}">
                <a16:creationId xmlns:a16="http://schemas.microsoft.com/office/drawing/2014/main" id="{D28CEECD-3EA4-D8F9-D331-7E9EBDD8E698}"/>
              </a:ext>
            </a:extLst>
          </p:cNvPr>
          <p:cNvPicPr>
            <a:picLocks noGrp="1" noChangeAspect="1"/>
          </p:cNvPicPr>
          <p:nvPr>
            <p:ph sz="half" idx="2"/>
          </p:nvPr>
        </p:nvPicPr>
        <p:blipFill>
          <a:blip r:embed="rId2"/>
          <a:stretch>
            <a:fillRect/>
          </a:stretch>
        </p:blipFill>
        <p:spPr>
          <a:xfrm>
            <a:off x="5274527" y="1825625"/>
            <a:ext cx="6079273" cy="4240638"/>
          </a:xfrm>
          <a:prstGeom prst="rect">
            <a:avLst/>
          </a:prstGeom>
        </p:spPr>
      </p:pic>
    </p:spTree>
    <p:extLst>
      <p:ext uri="{BB962C8B-B14F-4D97-AF65-F5344CB8AC3E}">
        <p14:creationId xmlns:p14="http://schemas.microsoft.com/office/powerpoint/2010/main" val="16190756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C8587-77EF-B9CE-B9B3-31B49ADD8C05}"/>
              </a:ext>
            </a:extLst>
          </p:cNvPr>
          <p:cNvSpPr>
            <a:spLocks noGrp="1"/>
          </p:cNvSpPr>
          <p:nvPr>
            <p:ph type="title"/>
          </p:nvPr>
        </p:nvSpPr>
        <p:spPr/>
        <p:txBody>
          <a:bodyPr/>
          <a:lstStyle/>
          <a:p>
            <a:pPr algn="ctr"/>
            <a:r>
              <a:rPr lang="en-US"/>
              <a:t>Model Saving</a:t>
            </a:r>
            <a:endParaRPr lang="ar-SA"/>
          </a:p>
        </p:txBody>
      </p:sp>
      <p:sp>
        <p:nvSpPr>
          <p:cNvPr id="3" name="Content Placeholder 2">
            <a:extLst>
              <a:ext uri="{FF2B5EF4-FFF2-40B4-BE49-F238E27FC236}">
                <a16:creationId xmlns:a16="http://schemas.microsoft.com/office/drawing/2014/main" id="{3871BDC4-E6D1-C644-97E0-8E3EF7CDA149}"/>
              </a:ext>
            </a:extLst>
          </p:cNvPr>
          <p:cNvSpPr>
            <a:spLocks noGrp="1"/>
          </p:cNvSpPr>
          <p:nvPr>
            <p:ph sz="half" idx="1"/>
          </p:nvPr>
        </p:nvSpPr>
        <p:spPr>
          <a:xfrm>
            <a:off x="1396871" y="1825625"/>
            <a:ext cx="8274205" cy="1185204"/>
          </a:xfrm>
        </p:spPr>
        <p:txBody>
          <a:bodyPr/>
          <a:lstStyle/>
          <a:p>
            <a:r>
              <a:rPr lang="en-US"/>
              <a:t>Implemented to save the best model if the path is provided (Optional).</a:t>
            </a:r>
          </a:p>
          <a:p>
            <a:endParaRPr lang="ar-SA"/>
          </a:p>
        </p:txBody>
      </p:sp>
      <p:pic>
        <p:nvPicPr>
          <p:cNvPr id="6" name="Content Placeholder 5">
            <a:extLst>
              <a:ext uri="{FF2B5EF4-FFF2-40B4-BE49-F238E27FC236}">
                <a16:creationId xmlns:a16="http://schemas.microsoft.com/office/drawing/2014/main" id="{3FEA6B28-C8EC-48AD-04C8-B7312453178C}"/>
              </a:ext>
            </a:extLst>
          </p:cNvPr>
          <p:cNvPicPr>
            <a:picLocks noGrp="1" noChangeAspect="1"/>
          </p:cNvPicPr>
          <p:nvPr>
            <p:ph sz="half" idx="2"/>
          </p:nvPr>
        </p:nvPicPr>
        <p:blipFill>
          <a:blip r:embed="rId2"/>
          <a:stretch>
            <a:fillRect/>
          </a:stretch>
        </p:blipFill>
        <p:spPr>
          <a:xfrm>
            <a:off x="1396871" y="3294850"/>
            <a:ext cx="6184796" cy="1533628"/>
          </a:xfrm>
          <a:prstGeom prst="rect">
            <a:avLst/>
          </a:prstGeom>
        </p:spPr>
      </p:pic>
    </p:spTree>
    <p:extLst>
      <p:ext uri="{BB962C8B-B14F-4D97-AF65-F5344CB8AC3E}">
        <p14:creationId xmlns:p14="http://schemas.microsoft.com/office/powerpoint/2010/main" val="39913848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7149"/>
            <a:ext cx="9144000" cy="2387600"/>
          </a:xfrm>
        </p:spPr>
        <p:txBody>
          <a:bodyPr/>
          <a:lstStyle/>
          <a:p>
            <a:r>
              <a:t>Stage 4: </a:t>
            </a:r>
            <a:r>
              <a:rPr err="1"/>
              <a:t>MLOps</a:t>
            </a:r>
            <a:r>
              <a:t>, Deployment &amp; Monitoring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Stage</a:t>
            </a:r>
            <a:r>
              <a:t> Overview</a:t>
            </a:r>
          </a:p>
        </p:txBody>
      </p:sp>
      <p:sp>
        <p:nvSpPr>
          <p:cNvPr id="3" name="Content Placeholder 2"/>
          <p:cNvSpPr>
            <a:spLocks noGrp="1"/>
          </p:cNvSpPr>
          <p:nvPr>
            <p:ph idx="1"/>
          </p:nvPr>
        </p:nvSpPr>
        <p:spPr/>
        <p:txBody>
          <a:bodyPr/>
          <a:lstStyle/>
          <a:p>
            <a:r>
              <a:t>Built an end‑to‑end ML system for sales forecasting</a:t>
            </a:r>
          </a:p>
          <a:p>
            <a:pPr lvl="1"/>
            <a:r>
              <a:t>Random Forest model achieving 99.96% R² accuracy</a:t>
            </a:r>
          </a:p>
          <a:p>
            <a:pPr lvl="1"/>
            <a:r>
              <a:t>Full </a:t>
            </a:r>
            <a:r>
              <a:rPr err="1"/>
              <a:t>MLOps</a:t>
            </a:r>
            <a:r>
              <a:t> pipeline: API, dashboard, monitoring, Docker, </a:t>
            </a:r>
            <a:r>
              <a:rPr err="1"/>
              <a:t>MLflow</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Engine</a:t>
            </a:r>
          </a:p>
        </p:txBody>
      </p:sp>
      <p:sp>
        <p:nvSpPr>
          <p:cNvPr id="3" name="Content Placeholder 2"/>
          <p:cNvSpPr>
            <a:spLocks noGrp="1"/>
          </p:cNvSpPr>
          <p:nvPr>
            <p:ph idx="1"/>
          </p:nvPr>
        </p:nvSpPr>
        <p:spPr/>
        <p:txBody>
          <a:bodyPr/>
          <a:lstStyle/>
          <a:p>
            <a:r>
              <a:t>121MB Random Forest model with 44 engineered features</a:t>
            </a:r>
          </a:p>
          <a:p>
            <a:pPr lvl="1"/>
            <a:r>
              <a:t>Integrated historical data (50K+ records)</a:t>
            </a:r>
          </a:p>
          <a:p>
            <a:pPr lvl="1"/>
            <a:r>
              <a:t>Dynamic path resolution for stable imports</a:t>
            </a:r>
          </a:p>
          <a:p>
            <a:pPr lvl="1"/>
            <a:r>
              <a:t>Graceful handling of missing values and edge cases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REST API (FastAPI)</a:t>
            </a:r>
          </a:p>
        </p:txBody>
      </p:sp>
      <p:sp>
        <p:nvSpPr>
          <p:cNvPr id="3" name="Content Placeholder 2"/>
          <p:cNvSpPr>
            <a:spLocks noGrp="1"/>
          </p:cNvSpPr>
          <p:nvPr>
            <p:ph idx="1"/>
          </p:nvPr>
        </p:nvSpPr>
        <p:spPr/>
        <p:txBody>
          <a:bodyPr/>
          <a:lstStyle/>
          <a:p>
            <a:r>
              <a:t>Endpoints: health, predict, batch, multi‑week, model info</a:t>
            </a:r>
          </a:p>
          <a:p>
            <a:pPr lvl="1"/>
            <a:r>
              <a:t>Automatic Swagger UI documentation</a:t>
            </a:r>
          </a:p>
          <a:p>
            <a:pPr lvl="1"/>
            <a:r>
              <a:t>Input validation with Pydantic</a:t>
            </a:r>
          </a:p>
          <a:p>
            <a:pPr lvl="1"/>
            <a:r>
              <a:t>Production startup via uvicorn runner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 (Streamlit)</a:t>
            </a:r>
          </a:p>
        </p:txBody>
      </p:sp>
      <p:sp>
        <p:nvSpPr>
          <p:cNvPr id="3" name="Content Placeholder 2"/>
          <p:cNvSpPr>
            <a:spLocks noGrp="1"/>
          </p:cNvSpPr>
          <p:nvPr>
            <p:ph idx="1"/>
          </p:nvPr>
        </p:nvSpPr>
        <p:spPr/>
        <p:txBody>
          <a:bodyPr/>
          <a:lstStyle/>
          <a:p>
            <a:r>
              <a:t>4 pages: Prediction, Performance, Monitoring, Model Info</a:t>
            </a:r>
          </a:p>
          <a:p>
            <a:pPr lvl="1"/>
            <a:r>
              <a:t>Interactive visualizations with Plotly</a:t>
            </a:r>
          </a:p>
          <a:p>
            <a:pPr lvl="1"/>
            <a:r>
              <a:t>Forecasting up to 52 weeks</a:t>
            </a:r>
          </a:p>
          <a:p>
            <a:pPr lvl="1"/>
            <a:r>
              <a:t>Business‑friendly interface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MLOps &amp; Tracking</a:t>
            </a:r>
          </a:p>
        </p:txBody>
      </p:sp>
      <p:sp>
        <p:nvSpPr>
          <p:cNvPr id="3" name="Content Placeholder 2"/>
          <p:cNvSpPr>
            <a:spLocks noGrp="1"/>
          </p:cNvSpPr>
          <p:nvPr>
            <p:ph idx="1"/>
          </p:nvPr>
        </p:nvSpPr>
        <p:spPr/>
        <p:txBody>
          <a:bodyPr/>
          <a:lstStyle/>
          <a:p>
            <a:r>
              <a:t>MLflow tracking with 50+ experiments</a:t>
            </a:r>
          </a:p>
          <a:p>
            <a:pPr lvl="1"/>
            <a:r>
              <a:t>Versioned models &amp; registry</a:t>
            </a:r>
          </a:p>
          <a:p>
            <a:pPr lvl="1"/>
            <a:r>
              <a:t>Automated experiment runner</a:t>
            </a:r>
          </a:p>
          <a:p>
            <a:pPr lvl="1"/>
            <a:r>
              <a:t>Comprehensive training logs and metrics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Monitoring System</a:t>
            </a:r>
          </a:p>
        </p:txBody>
      </p:sp>
      <p:sp>
        <p:nvSpPr>
          <p:cNvPr id="3" name="Content Placeholder 2"/>
          <p:cNvSpPr>
            <a:spLocks noGrp="1"/>
          </p:cNvSpPr>
          <p:nvPr>
            <p:ph idx="1"/>
          </p:nvPr>
        </p:nvSpPr>
        <p:spPr/>
        <p:txBody>
          <a:bodyPr/>
          <a:lstStyle/>
          <a:p>
            <a:r>
              <a:t>Latency &amp; error monitoring</a:t>
            </a:r>
          </a:p>
          <a:p>
            <a:pPr lvl="1"/>
            <a:r>
              <a:t>Drift detection (KS test, distribution tracking)</a:t>
            </a:r>
          </a:p>
          <a:p>
            <a:pPr lvl="1"/>
            <a:r>
              <a:t>Automated alerts and logs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Docker Deployment</a:t>
            </a:r>
          </a:p>
        </p:txBody>
      </p:sp>
      <p:sp>
        <p:nvSpPr>
          <p:cNvPr id="3" name="Content Placeholder 2"/>
          <p:cNvSpPr>
            <a:spLocks noGrp="1"/>
          </p:cNvSpPr>
          <p:nvPr>
            <p:ph idx="1"/>
          </p:nvPr>
        </p:nvSpPr>
        <p:spPr/>
        <p:txBody>
          <a:bodyPr/>
          <a:lstStyle/>
          <a:p>
            <a:r>
              <a:t>Multi‑service architecture: API, Dashboard, </a:t>
            </a:r>
            <a:r>
              <a:rPr err="1"/>
              <a:t>MLflow</a:t>
            </a:r>
            <a:endParaRPr/>
          </a:p>
          <a:p>
            <a:pPr lvl="1"/>
            <a:r>
              <a:t>Optimized </a:t>
            </a:r>
            <a:r>
              <a:rPr err="1"/>
              <a:t>Dockerfile</a:t>
            </a:r>
            <a:r>
              <a:t> with caching &amp; retries</a:t>
            </a:r>
          </a:p>
          <a:p>
            <a:pPr lvl="1"/>
            <a:r>
              <a:t>docker-compose for orchestration</a:t>
            </a:r>
          </a:p>
          <a:p>
            <a:pPr lvl="1"/>
            <a:r>
              <a:t>Production setup with Nginx, SSL, load balancing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Git LFS &amp; Model Storage</a:t>
            </a:r>
          </a:p>
        </p:txBody>
      </p:sp>
      <p:sp>
        <p:nvSpPr>
          <p:cNvPr id="3" name="Content Placeholder 2"/>
          <p:cNvSpPr>
            <a:spLocks noGrp="1"/>
          </p:cNvSpPr>
          <p:nvPr>
            <p:ph idx="1"/>
          </p:nvPr>
        </p:nvSpPr>
        <p:spPr/>
        <p:txBody>
          <a:bodyPr/>
          <a:lstStyle/>
          <a:p>
            <a:r>
              <a:t>121MB model stored via Git LFS</a:t>
            </a:r>
          </a:p>
          <a:p>
            <a:pPr lvl="1"/>
            <a:r>
              <a:t>Efficient cloning and deployment</a:t>
            </a:r>
          </a:p>
          <a:p>
            <a:pPr lvl="1"/>
            <a:r>
              <a:t>Version control for large binary artifacts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 Deployment</a:t>
            </a:r>
          </a:p>
        </p:txBody>
      </p:sp>
      <p:sp>
        <p:nvSpPr>
          <p:cNvPr id="3" name="Content Placeholder 2"/>
          <p:cNvSpPr>
            <a:spLocks noGrp="1"/>
          </p:cNvSpPr>
          <p:nvPr>
            <p:ph idx="1"/>
          </p:nvPr>
        </p:nvSpPr>
        <p:spPr/>
        <p:txBody>
          <a:bodyPr/>
          <a:lstStyle/>
          <a:p>
            <a:r>
              <a:t>Streamlit Cloud for free deployment</a:t>
            </a:r>
          </a:p>
          <a:p>
            <a:pPr lvl="1"/>
            <a:r>
              <a:t>GitHub auto‑deployments</a:t>
            </a:r>
          </a:p>
          <a:p>
            <a:pPr lvl="1"/>
            <a:r>
              <a:t>Fixed dependency conflicts and watcher issues</a:t>
            </a:r>
          </a:p>
          <a:p>
            <a:pPr lvl="1"/>
            <a:r>
              <a:t>Live URL with HTTPS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 &amp; Validation</a:t>
            </a:r>
          </a:p>
        </p:txBody>
      </p:sp>
      <p:sp>
        <p:nvSpPr>
          <p:cNvPr id="3" name="Content Placeholder 2"/>
          <p:cNvSpPr>
            <a:spLocks noGrp="1"/>
          </p:cNvSpPr>
          <p:nvPr>
            <p:ph idx="1"/>
          </p:nvPr>
        </p:nvSpPr>
        <p:spPr/>
        <p:txBody>
          <a:bodyPr/>
          <a:lstStyle/>
          <a:p>
            <a:r>
              <a:t>Unit, integration, and end‑to‑end tests</a:t>
            </a:r>
          </a:p>
          <a:p>
            <a:pPr lvl="1"/>
            <a:r>
              <a:t>Automated verification scripts</a:t>
            </a:r>
          </a:p>
          <a:p>
            <a:pPr lvl="1"/>
            <a:r>
              <a:t>Feature engineering validation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Architecture</a:t>
            </a:r>
          </a:p>
        </p:txBody>
      </p:sp>
      <p:sp>
        <p:nvSpPr>
          <p:cNvPr id="3" name="Content Placeholder 2"/>
          <p:cNvSpPr>
            <a:spLocks noGrp="1"/>
          </p:cNvSpPr>
          <p:nvPr>
            <p:ph idx="1"/>
          </p:nvPr>
        </p:nvSpPr>
        <p:spPr/>
        <p:txBody>
          <a:bodyPr/>
          <a:lstStyle/>
          <a:p>
            <a:r>
              <a:t>API + Dashboard + Predictor + Model + MLOps stack</a:t>
            </a:r>
          </a:p>
          <a:p>
            <a:pPr lvl="1"/>
            <a:r>
              <a:t>Real‑time predictions with monitoring</a:t>
            </a:r>
          </a:p>
          <a:p>
            <a:pPr lvl="1"/>
            <a:r>
              <a:t>Separation of services for scalability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Achievements</a:t>
            </a:r>
          </a:p>
        </p:txBody>
      </p:sp>
      <p:sp>
        <p:nvSpPr>
          <p:cNvPr id="3" name="Content Placeholder 2"/>
          <p:cNvSpPr>
            <a:spLocks noGrp="1"/>
          </p:cNvSpPr>
          <p:nvPr>
            <p:ph idx="1"/>
          </p:nvPr>
        </p:nvSpPr>
        <p:spPr/>
        <p:txBody>
          <a:bodyPr/>
          <a:lstStyle/>
          <a:p>
            <a:r>
              <a:t>2000+ lines of production code</a:t>
            </a:r>
          </a:p>
          <a:p>
            <a:pPr lvl="1"/>
            <a:r>
              <a:t>5500+ lines of documentation</a:t>
            </a:r>
          </a:p>
          <a:p>
            <a:pPr lvl="1"/>
            <a:r>
              <a:t>Complete production‑ready ML system</a:t>
            </a:r>
          </a:p>
          <a:p>
            <a:pPr lvl="1"/>
            <a:r>
              <a:t>Successfully deployed live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62</Slides>
  <Notes>6</Notes>
  <HiddenSlides>0</HiddenSlide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PowerPoint Presentation</vt:lpstr>
      <vt:lpstr>Overview</vt:lpstr>
      <vt:lpstr>Milestone 1: Data Preprocessing &amp; Feature Engineering</vt:lpstr>
      <vt:lpstr>Milestone 1: Overview of Stage 1</vt:lpstr>
      <vt:lpstr>Milestone 1: Raw Data Inputs</vt:lpstr>
      <vt:lpstr>Step 1.1: Data Loading &amp; Merging</vt:lpstr>
      <vt:lpstr>Step 1.2: Handling Missing Values</vt:lpstr>
      <vt:lpstr>Step 1.3: Outlier Detection</vt:lpstr>
      <vt:lpstr>Step 1.4: EDA — Understanding the Data</vt:lpstr>
      <vt:lpstr>Step 1.4: EDA — Understanding the Data</vt:lpstr>
      <vt:lpstr>Step 1.4: EDA — Understanding the Data</vt:lpstr>
      <vt:lpstr>Step 1.4: EDA — Understanding the Data</vt:lpstr>
      <vt:lpstr>Step 1.4: EDA — Understanding the Data</vt:lpstr>
      <vt:lpstr>Time Features (Step 1.3.1)</vt:lpstr>
      <vt:lpstr>Lag &amp; Rolling Features (Step 1.3.2)</vt:lpstr>
      <vt:lpstr>Lag &amp; Rolling Features (Step 1.3.2)</vt:lpstr>
      <vt:lpstr>Categorical Encoding (Step 1.3.3)</vt:lpstr>
      <vt:lpstr>Feature Normalization (Step 1.3.4)</vt:lpstr>
      <vt:lpstr>Final Dataset Summary</vt:lpstr>
      <vt:lpstr>Final Dataset Summary</vt:lpstr>
      <vt:lpstr>Milestone 2: Advanced Data Analysis &amp; Feature Engineering</vt:lpstr>
      <vt:lpstr>Stage 2 Overview</vt:lpstr>
      <vt:lpstr>Task 2.1: Advanced Data Analysis (overview)</vt:lpstr>
      <vt:lpstr>Time Series Decomposition (Trend, Seasonality, Residual)</vt:lpstr>
      <vt:lpstr>Task 2.1: Advanced Data Analysis (overview) (trend / seasonality / residuals)</vt:lpstr>
      <vt:lpstr>Stationarity (ADF results)</vt:lpstr>
      <vt:lpstr>What Is ARIMA (as we are preparing for forecasting)</vt:lpstr>
      <vt:lpstr>Correlation Analysis (heatmap)</vt:lpstr>
      <vt:lpstr>PowerPoint Presentation</vt:lpstr>
      <vt:lpstr>Top Correlated Features (numbers)</vt:lpstr>
      <vt:lpstr>Holiday Impact Analysis</vt:lpstr>
      <vt:lpstr>Task 2.2: Enhanced Feature Engineering (overview)</vt:lpstr>
      <vt:lpstr>Example: Advanced Rolling Stats (EMAs &amp; Acceleration)</vt:lpstr>
      <vt:lpstr>Example: Seasonal &amp; Holiday Features</vt:lpstr>
      <vt:lpstr>Example: Store/Dept Aggregates &amp; Deviations</vt:lpstr>
      <vt:lpstr>Task 2.3: Advanced Visualizations (dashboard)</vt:lpstr>
      <vt:lpstr>Task 2.3: Final dataset summary</vt:lpstr>
      <vt:lpstr>PowerPoint Presentation</vt:lpstr>
      <vt:lpstr>Milestone 3: Machine learning model building</vt:lpstr>
      <vt:lpstr>Milestone 3 Overview</vt:lpstr>
      <vt:lpstr>PowerPoint Presentation</vt:lpstr>
      <vt:lpstr>Progressive Feature Strategy </vt:lpstr>
      <vt:lpstr>PowerPoint Presentation</vt:lpstr>
      <vt:lpstr>Advanced Store Type Models</vt:lpstr>
      <vt:lpstr>Models Evaluation &amp; Comparison </vt:lpstr>
      <vt:lpstr>Models Evaluation &amp; Comparison </vt:lpstr>
      <vt:lpstr>Feature Importance Analysis</vt:lpstr>
      <vt:lpstr>Models Pipeline</vt:lpstr>
      <vt:lpstr>Model Saving</vt:lpstr>
      <vt:lpstr>Stage 4: MLOps, Deployment &amp; Monitoring</vt:lpstr>
      <vt:lpstr>Stage Overview</vt:lpstr>
      <vt:lpstr>Prediction Engine</vt:lpstr>
      <vt:lpstr>REST API (FastAPI)</vt:lpstr>
      <vt:lpstr>Dashboard (Streamlit)</vt:lpstr>
      <vt:lpstr>MLOps &amp; Tracking</vt:lpstr>
      <vt:lpstr>Monitoring System</vt:lpstr>
      <vt:lpstr>Docker Deployment</vt:lpstr>
      <vt:lpstr>Git LFS &amp; Model Storage</vt:lpstr>
      <vt:lpstr>Cloud Deployment</vt:lpstr>
      <vt:lpstr>Testing &amp; Validation</vt:lpstr>
      <vt:lpstr>Final Architecture</vt:lpstr>
      <vt:lpstr>Achievements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Yahia Zakaria Shazly</dc:creator>
  <cp:revision>2</cp:revision>
  <dcterms:created xsi:type="dcterms:W3CDTF">2025-12-11T18:55:07Z</dcterms:created>
  <dcterms:modified xsi:type="dcterms:W3CDTF">2025-12-14T11:00:36Z</dcterms:modified>
</cp:coreProperties>
</file>